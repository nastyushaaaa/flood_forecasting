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  <p:sldMasterId id="2147483666" r:id="rId6"/>
    <p:sldMasterId id="2147483667" r:id="rId7"/>
    <p:sldMasterId id="2147483668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y="5143500" cx="9144000"/>
  <p:notesSz cx="6858000" cy="9144000"/>
  <p:embeddedFontLst>
    <p:embeddedFont>
      <p:font typeface="Montserrat SemiBold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Montserrat Light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CD5E30-D5C7-4E7D-86A3-FEB27F0FC485}">
  <a:tblStyle styleId="{3ECD5E30-D5C7-4E7D-86A3-FEB27F0FC485}" styleName="Table_0">
    <a:wholeTbl>
      <a:tcTxStyle b="off" i="off">
        <a:font>
          <a:latin typeface="Montserrat"/>
          <a:ea typeface="Montserrat"/>
          <a:cs typeface="Montserra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Montserrat"/>
          <a:ea typeface="Montserrat"/>
          <a:cs typeface="Montserra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Montserrat"/>
          <a:ea typeface="Montserrat"/>
          <a:cs typeface="Montserra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Montserrat"/>
          <a:ea typeface="Montserrat"/>
          <a:cs typeface="Montserra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F1E9AF8-1EC2-43D3-B66D-870597D043D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.fntdata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44" Type="http://schemas.openxmlformats.org/officeDocument/2006/relationships/font" Target="fonts/MontserratLight-bold.fntdata"/><Relationship Id="rId43" Type="http://schemas.openxmlformats.org/officeDocument/2006/relationships/font" Target="fonts/MontserratLight-regular.fntdata"/><Relationship Id="rId46" Type="http://schemas.openxmlformats.org/officeDocument/2006/relationships/font" Target="fonts/MontserratLight-boldItalic.fntdata"/><Relationship Id="rId45" Type="http://schemas.openxmlformats.org/officeDocument/2006/relationships/font" Target="fonts/Montserrat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font" Target="fonts/MontserratSemiBold-regular.fntdata"/><Relationship Id="rId30" Type="http://schemas.openxmlformats.org/officeDocument/2006/relationships/slide" Target="slides/slide21.xml"/><Relationship Id="rId33" Type="http://schemas.openxmlformats.org/officeDocument/2006/relationships/font" Target="fonts/MontserratSemiBold-italic.fntdata"/><Relationship Id="rId32" Type="http://schemas.openxmlformats.org/officeDocument/2006/relationships/font" Target="fonts/MontserratSemiBold-bold.fntdata"/><Relationship Id="rId35" Type="http://schemas.openxmlformats.org/officeDocument/2006/relationships/font" Target="fonts/Montserrat-regular.fntdata"/><Relationship Id="rId34" Type="http://schemas.openxmlformats.org/officeDocument/2006/relationships/font" Target="fonts/MontserratSemiBold-boldItalic.fntdata"/><Relationship Id="rId37" Type="http://schemas.openxmlformats.org/officeDocument/2006/relationships/font" Target="fonts/Montserrat-italic.fntdata"/><Relationship Id="rId36" Type="http://schemas.openxmlformats.org/officeDocument/2006/relationships/font" Target="fonts/Montserrat-bold.fntdata"/><Relationship Id="rId39" Type="http://schemas.openxmlformats.org/officeDocument/2006/relationships/font" Target="fonts/MontserratMedium-regular.fntdata"/><Relationship Id="rId38" Type="http://schemas.openxmlformats.org/officeDocument/2006/relationships/font" Target="fonts/Montserrat-boldItalic.fntdata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d7868a82cf1116_4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h1d7868a82cf1116_4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1d7868a82cf1116_4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1d7868a82cf1116_4_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h1d7868a82cf1116_4_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1d7868a82cf1116_4_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1d7868a82cf1116_4_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h1d7868a82cf1116_4_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1d7868a82cf1116_4_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1d7868a82cf1116_4_7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h1d7868a82cf1116_4_7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h1d7868a82cf1116_4_7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1d7868a82cf1116_4_1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h1d7868a82cf1116_4_1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1d7868a82cf1116_4_1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1d7868a82cf1116_4_1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h1d7868a82cf1116_4_14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1d7868a82cf1116_4_1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1d7868a82cf1116_4_1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1d7868a82cf1116_4_1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1d7868a82cf1116_4_1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1d7868a82cf1116_4_2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h1d7868a82cf1116_4_2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h1d7868a82cf1116_4_2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d7868a82cf1116_4_3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h1d7868a82cf1116_4_3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h1d7868a82cf1116_4_3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1d7868a82cf1116_4_3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h1d7868a82cf1116_4_3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1d7868a82cf1116_4_3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h1d7868a82cf1116_4_3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1d7868a82cf1116_4_3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h1d7868a82cf1116_4_3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h1d7868a82cf1116_4_37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h1d7868a82cf1116_4_37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h1d7868a82cf1116_4_38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h1d7868a82cf1116_4_38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1d7868a82cf1116_4_38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h1d7868a82cf1116_4_38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1d7868a82cf1116_4_38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h1d7868a82cf1116_4_4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h1d7868a82cf1116_4_4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h1d7868a82cf1116_4_4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h1d7868a82cf1116_4_4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h1d7868a82cf1116_4_4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h1d7868a82cf1116_4_4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d7868a82cf1116_4_45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h1d7868a82cf1116_4_45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h1d7868a82cf1116_4_45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h5f9f05c93c78d2ff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h5f9f05c93c78d2ff_0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h5f9f05c93c78d2ff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5f9f05c93c78d2ff_0_4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h5f9f05c93c78d2ff_0_4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h5f9f05c93c78d2ff_0_4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h1d7868a82cf1116_4_4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h1d7868a82cf1116_4_4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h1d7868a82cf1116_4_4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457181" y="304787"/>
            <a:ext cx="6572234" cy="554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4D87"/>
              </a:buClr>
              <a:buSzPts val="2000"/>
              <a:buFont typeface="Montserrat"/>
              <a:buNone/>
              <a:defRPr sz="2000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457181" y="1088134"/>
            <a:ext cx="8077219" cy="344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24D87"/>
              </a:buClr>
              <a:buSzPts val="1200"/>
              <a:buNone/>
              <a:defRPr sz="1200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Только заголовок 12">
  <p:cSld name="5_Только заголовок 1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92855" y="226056"/>
            <a:ext cx="6231731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800"/>
              <a:buFont typeface="Montserrat SemiBold"/>
              <a:buNone/>
              <a:defRPr b="0" i="0" sz="1800" u="none" cap="none" strike="noStrike">
                <a:solidFill>
                  <a:srgbClr val="00559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92906" y="522300"/>
            <a:ext cx="6231731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84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323E4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rgbClr val="323E4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667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rgbClr val="323E4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23E4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83" name="Google Shape;83;p19"/>
          <p:cNvGrpSpPr/>
          <p:nvPr/>
        </p:nvGrpSpPr>
        <p:grpSpPr>
          <a:xfrm rot="5400000">
            <a:off x="8527915" y="4932618"/>
            <a:ext cx="232360" cy="34289"/>
            <a:chOff x="11008409" y="6143528"/>
            <a:chExt cx="352370" cy="102724"/>
          </a:xfrm>
        </p:grpSpPr>
        <p:sp>
          <p:nvSpPr>
            <p:cNvPr id="84" name="Google Shape;84;p19"/>
            <p:cNvSpPr/>
            <p:nvPr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rgbClr val="AB1F0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rgbClr val="86BA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rgbClr val="1864B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88" name="Google Shape;88;p19"/>
          <p:cNvSpPr txBox="1"/>
          <p:nvPr/>
        </p:nvSpPr>
        <p:spPr>
          <a:xfrm>
            <a:off x="8195806" y="4776048"/>
            <a:ext cx="376953" cy="324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11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100" u="none" cap="none" strike="noStrike">
              <a:solidFill>
                <a:srgbClr val="0B2D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олько заголовок 12">
  <p:cSld name="4_Только заголовок 1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92855" y="226056"/>
            <a:ext cx="6231782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800"/>
              <a:buFont typeface="Montserrat SemiBold"/>
              <a:buNone/>
              <a:defRPr b="0" i="0" sz="1800" u="none" cap="none" strike="noStrike">
                <a:solidFill>
                  <a:srgbClr val="00559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grpSp>
        <p:nvGrpSpPr>
          <p:cNvPr id="91" name="Google Shape;91;p20"/>
          <p:cNvGrpSpPr/>
          <p:nvPr/>
        </p:nvGrpSpPr>
        <p:grpSpPr>
          <a:xfrm rot="5400000">
            <a:off x="8527915" y="4932618"/>
            <a:ext cx="232360" cy="34289"/>
            <a:chOff x="11008409" y="6143528"/>
            <a:chExt cx="352370" cy="102724"/>
          </a:xfrm>
        </p:grpSpPr>
        <p:sp>
          <p:nvSpPr>
            <p:cNvPr id="92" name="Google Shape;92;p20"/>
            <p:cNvSpPr/>
            <p:nvPr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rgbClr val="AB1F0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20"/>
            <p:cNvSpPr/>
            <p:nvPr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rgbClr val="86BAE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4" name="Google Shape;94;p20"/>
            <p:cNvSpPr/>
            <p:nvPr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5" name="Google Shape;95;p20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rgbClr val="1864B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6" name="Google Shape;96;p20"/>
          <p:cNvSpPr txBox="1"/>
          <p:nvPr/>
        </p:nvSpPr>
        <p:spPr>
          <a:xfrm>
            <a:off x="8195806" y="4776048"/>
            <a:ext cx="376953" cy="324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100">
              <a:solidFill>
                <a:srgbClr val="0B2D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1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олько заголовок 12">
  <p:cSld name="1_Только заголовок 1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1"/>
          <p:cNvGrpSpPr/>
          <p:nvPr/>
        </p:nvGrpSpPr>
        <p:grpSpPr>
          <a:xfrm>
            <a:off x="-1" y="2430576"/>
            <a:ext cx="9144000" cy="142103"/>
            <a:chOff x="0" y="2512541"/>
            <a:chExt cx="12192000" cy="189470"/>
          </a:xfrm>
        </p:grpSpPr>
        <p:sp>
          <p:nvSpPr>
            <p:cNvPr id="99" name="Google Shape;99;p21"/>
            <p:cNvSpPr/>
            <p:nvPr/>
          </p:nvSpPr>
          <p:spPr>
            <a:xfrm>
              <a:off x="0" y="2512541"/>
              <a:ext cx="3048000" cy="189470"/>
            </a:xfrm>
            <a:prstGeom prst="rect">
              <a:avLst/>
            </a:prstGeom>
            <a:solidFill>
              <a:srgbClr val="ABCEF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3048000" y="2512541"/>
              <a:ext cx="3048000" cy="189470"/>
            </a:xfrm>
            <a:prstGeom prst="rect">
              <a:avLst/>
            </a:prstGeom>
            <a:solidFill>
              <a:srgbClr val="4F9BE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6096000" y="2512541"/>
              <a:ext cx="3048000" cy="189470"/>
            </a:xfrm>
            <a:prstGeom prst="rect">
              <a:avLst/>
            </a:prstGeom>
            <a:solidFill>
              <a:srgbClr val="124D8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9144000" y="2512541"/>
              <a:ext cx="3048000" cy="189470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3" name="Google Shape;103;p21"/>
          <p:cNvSpPr/>
          <p:nvPr/>
        </p:nvSpPr>
        <p:spPr>
          <a:xfrm>
            <a:off x="0" y="4194620"/>
            <a:ext cx="9144000" cy="596646"/>
          </a:xfrm>
          <a:prstGeom prst="rect">
            <a:avLst/>
          </a:prstGeom>
          <a:solidFill>
            <a:srgbClr val="ECED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Изображение выглядит как на открытом воздухе, небо, дерево, строительство&#10;&#10;Автоматически созданное описание" id="104" name="Google Shape;104;p21"/>
          <p:cNvPicPr preferRelativeResize="0"/>
          <p:nvPr/>
        </p:nvPicPr>
        <p:blipFill rotWithShape="1">
          <a:blip r:embed="rId2">
            <a:alphaModFix/>
          </a:blip>
          <a:srcRect b="17498" l="0" r="0" t="27377"/>
          <a:stretch/>
        </p:blipFill>
        <p:spPr>
          <a:xfrm>
            <a:off x="-11497" y="-13362"/>
            <a:ext cx="9155497" cy="24439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>
            <p:ph type="title"/>
          </p:nvPr>
        </p:nvSpPr>
        <p:spPr>
          <a:xfrm>
            <a:off x="386953" y="2901652"/>
            <a:ext cx="8370094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 SemiBold"/>
              <a:buNone/>
              <a:defRPr b="1" i="0" sz="27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86953" y="4194572"/>
            <a:ext cx="8370094" cy="4025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27584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7275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27584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27584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27584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2758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27584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2758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27584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2758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3518298" y="4833938"/>
            <a:ext cx="2107406" cy="2559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2D5D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D2D5D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323E4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rgbClr val="323E4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667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rgbClr val="323E4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23E4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23E4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457181" y="304787"/>
            <a:ext cx="6572234" cy="554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4D87"/>
              </a:buClr>
              <a:buSzPts val="2000"/>
              <a:buFont typeface="Montserrat"/>
              <a:buNone/>
              <a:defRPr b="0" i="0" sz="2000" u="none" cap="none" strike="noStrike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457181" y="1088134"/>
            <a:ext cx="8077219" cy="344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24D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8"/>
          <p:cNvGrpSpPr/>
          <p:nvPr/>
        </p:nvGrpSpPr>
        <p:grpSpPr>
          <a:xfrm>
            <a:off x="-1817803" y="0"/>
            <a:ext cx="1596174" cy="5143500"/>
            <a:chOff x="-2798204" y="0"/>
            <a:chExt cx="2128232" cy="6858000"/>
          </a:xfrm>
        </p:grpSpPr>
        <p:sp>
          <p:nvSpPr>
            <p:cNvPr id="61" name="Google Shape;61;p18"/>
            <p:cNvSpPr/>
            <p:nvPr/>
          </p:nvSpPr>
          <p:spPr>
            <a:xfrm>
              <a:off x="-2798204" y="0"/>
              <a:ext cx="2128232" cy="6858000"/>
            </a:xfrm>
            <a:prstGeom prst="roundRect">
              <a:avLst>
                <a:gd fmla="val 353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62" name="Google Shape;62;p18"/>
            <p:cNvGrpSpPr/>
            <p:nvPr/>
          </p:nvGrpSpPr>
          <p:grpSpPr>
            <a:xfrm>
              <a:off x="-2502742" y="3962799"/>
              <a:ext cx="1537306" cy="1527749"/>
              <a:chOff x="-4614766" y="3325940"/>
              <a:chExt cx="1537306" cy="1527749"/>
            </a:xfrm>
          </p:grpSpPr>
          <p:sp>
            <p:nvSpPr>
              <p:cNvPr id="63" name="Google Shape;63;p18"/>
              <p:cNvSpPr/>
              <p:nvPr/>
            </p:nvSpPr>
            <p:spPr>
              <a:xfrm>
                <a:off x="-4614766" y="4132507"/>
                <a:ext cx="721182" cy="721182"/>
              </a:xfrm>
              <a:prstGeom prst="ellipse">
                <a:avLst/>
              </a:prstGeom>
              <a:solidFill>
                <a:srgbClr val="ED7D3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#ED7D31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64" name="Google Shape;64;p18"/>
              <p:cNvSpPr/>
              <p:nvPr/>
            </p:nvSpPr>
            <p:spPr>
              <a:xfrm>
                <a:off x="-3798642" y="3325940"/>
                <a:ext cx="721182" cy="721182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#FFC000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65" name="Google Shape;65;p18"/>
              <p:cNvSpPr/>
              <p:nvPr/>
            </p:nvSpPr>
            <p:spPr>
              <a:xfrm>
                <a:off x="-3798642" y="4132507"/>
                <a:ext cx="721182" cy="72118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#C00000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66" name="Google Shape;66;p18"/>
              <p:cNvSpPr/>
              <p:nvPr/>
            </p:nvSpPr>
            <p:spPr>
              <a:xfrm>
                <a:off x="-4614766" y="3325940"/>
                <a:ext cx="721182" cy="721182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#92D050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67" name="Google Shape;67;p18"/>
            <p:cNvGrpSpPr/>
            <p:nvPr/>
          </p:nvGrpSpPr>
          <p:grpSpPr>
            <a:xfrm>
              <a:off x="-2502742" y="462124"/>
              <a:ext cx="1537306" cy="3140886"/>
              <a:chOff x="-4614766" y="99668"/>
              <a:chExt cx="1537306" cy="3140886"/>
            </a:xfrm>
          </p:grpSpPr>
          <p:sp>
            <p:nvSpPr>
              <p:cNvPr id="68" name="Google Shape;68;p18"/>
              <p:cNvSpPr/>
              <p:nvPr/>
            </p:nvSpPr>
            <p:spPr>
              <a:xfrm>
                <a:off x="-3798642" y="99668"/>
                <a:ext cx="721182" cy="721182"/>
              </a:xfrm>
              <a:prstGeom prst="ellipse">
                <a:avLst/>
              </a:prstGeom>
              <a:solidFill>
                <a:srgbClr val="00559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#005593</a:t>
                </a:r>
                <a:endParaRPr sz="1100"/>
              </a:p>
            </p:txBody>
          </p:sp>
          <p:sp>
            <p:nvSpPr>
              <p:cNvPr id="69" name="Google Shape;69;p18"/>
              <p:cNvSpPr/>
              <p:nvPr/>
            </p:nvSpPr>
            <p:spPr>
              <a:xfrm>
                <a:off x="-4614766" y="906236"/>
                <a:ext cx="721182" cy="721182"/>
              </a:xfrm>
              <a:prstGeom prst="ellipse">
                <a:avLst/>
              </a:prstGeom>
              <a:solidFill>
                <a:srgbClr val="2E74B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#2E74B4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70" name="Google Shape;70;p18"/>
              <p:cNvSpPr/>
              <p:nvPr/>
            </p:nvSpPr>
            <p:spPr>
              <a:xfrm>
                <a:off x="-3798642" y="906236"/>
                <a:ext cx="721182" cy="72118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#00B0F0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71" name="Google Shape;71;p18"/>
              <p:cNvSpPr/>
              <p:nvPr/>
            </p:nvSpPr>
            <p:spPr>
              <a:xfrm>
                <a:off x="-4614766" y="99668"/>
                <a:ext cx="721182" cy="721182"/>
              </a:xfrm>
              <a:prstGeom prst="ellipse">
                <a:avLst/>
              </a:prstGeom>
              <a:solidFill>
                <a:srgbClr val="001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#001355</a:t>
                </a:r>
                <a:endParaRPr sz="1100"/>
              </a:p>
            </p:txBody>
          </p:sp>
          <p:sp>
            <p:nvSpPr>
              <p:cNvPr id="72" name="Google Shape;72;p18"/>
              <p:cNvSpPr/>
              <p:nvPr/>
            </p:nvSpPr>
            <p:spPr>
              <a:xfrm>
                <a:off x="-3798642" y="1712804"/>
                <a:ext cx="721182" cy="721182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#44546A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73" name="Google Shape;73;p18"/>
              <p:cNvSpPr/>
              <p:nvPr/>
            </p:nvSpPr>
            <p:spPr>
              <a:xfrm>
                <a:off x="-4614766" y="2519372"/>
                <a:ext cx="721182" cy="721182"/>
              </a:xfrm>
              <a:prstGeom prst="ellipse">
                <a:avLst/>
              </a:prstGeom>
              <a:solidFill>
                <a:srgbClr val="D6DC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dk2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#D6DCE5</a:t>
                </a:r>
                <a:endParaRPr b="0" i="0" sz="600" u="none" cap="none" strike="noStrike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74" name="Google Shape;74;p18"/>
              <p:cNvSpPr/>
              <p:nvPr/>
            </p:nvSpPr>
            <p:spPr>
              <a:xfrm>
                <a:off x="-3798642" y="2519372"/>
                <a:ext cx="721182" cy="721182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dk2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#F2F2F2</a:t>
                </a:r>
                <a:endParaRPr b="0" i="0" sz="600" u="none" cap="none" strike="noStrike">
                  <a:solidFill>
                    <a:schemeClr val="dk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75" name="Google Shape;75;p18"/>
              <p:cNvSpPr/>
              <p:nvPr/>
            </p:nvSpPr>
            <p:spPr>
              <a:xfrm>
                <a:off x="-4614766" y="1712804"/>
                <a:ext cx="721182" cy="721182"/>
              </a:xfrm>
              <a:prstGeom prst="ellipse">
                <a:avLst/>
              </a:prstGeom>
              <a:solidFill>
                <a:srgbClr val="222A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ru" sz="600" u="none" cap="none" strike="noStrike">
                    <a:solidFill>
                      <a:schemeClr val="lt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#222A35</a:t>
                </a:r>
                <a:endParaRPr b="0" i="0" sz="600" u="none" cap="none" strike="noStrike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76" name="Google Shape;76;p18"/>
            <p:cNvSpPr txBox="1"/>
            <p:nvPr/>
          </p:nvSpPr>
          <p:spPr>
            <a:xfrm>
              <a:off x="-2415872" y="201438"/>
              <a:ext cx="1363566" cy="16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" sz="800" u="none" cap="none" strike="noStrike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Основные цвета</a:t>
              </a:r>
              <a:endParaRPr sz="1100"/>
            </a:p>
          </p:txBody>
        </p:sp>
        <p:sp>
          <p:nvSpPr>
            <p:cNvPr id="77" name="Google Shape;77;p18"/>
            <p:cNvSpPr txBox="1"/>
            <p:nvPr/>
          </p:nvSpPr>
          <p:spPr>
            <a:xfrm>
              <a:off x="-2311097" y="3702113"/>
              <a:ext cx="1154016" cy="16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" sz="800" u="none" cap="none" strike="noStrike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Доп. цвета</a:t>
              </a:r>
              <a:endParaRPr sz="1100"/>
            </a:p>
          </p:txBody>
        </p:sp>
        <p:sp>
          <p:nvSpPr>
            <p:cNvPr id="78" name="Google Shape;78;p18"/>
            <p:cNvSpPr txBox="1"/>
            <p:nvPr/>
          </p:nvSpPr>
          <p:spPr>
            <a:xfrm>
              <a:off x="-2729124" y="5589651"/>
              <a:ext cx="1990071" cy="113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342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" sz="800" u="none" cap="none" strike="noStrike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Шрифт</a:t>
              </a:r>
              <a:endParaRPr sz="1100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" sz="9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MONTSERRAT</a:t>
              </a:r>
              <a:endParaRPr b="0" i="0" sz="9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" sz="900" u="none" cap="none" strike="noStrike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Montserrat Light</a:t>
              </a:r>
              <a:endParaRPr b="0" i="0" sz="9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" sz="9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Montserrat Medium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" sz="900" u="none" cap="none" strike="noStrike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Montserrat SemiBold</a:t>
              </a:r>
              <a:endParaRPr b="0" i="0" sz="8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descr="Изображение выглядит как текст, логотип, эмблема, символ&#10;&#10;Автоматически созданное описание" id="79" name="Google Shape;79;p18"/>
          <p:cNvPicPr preferRelativeResize="0"/>
          <p:nvPr/>
        </p:nvPicPr>
        <p:blipFill rotWithShape="1">
          <a:blip r:embed="rId1">
            <a:alphaModFix/>
          </a:blip>
          <a:srcRect b="21887" l="0" r="0" t="18676"/>
          <a:stretch/>
        </p:blipFill>
        <p:spPr>
          <a:xfrm>
            <a:off x="7318815" y="222647"/>
            <a:ext cx="1438233" cy="48096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39">
          <p15:clr>
            <a:srgbClr val="5ACBF0"/>
          </p15:clr>
        </p15:guide>
        <p15:guide id="2" pos="2880">
          <p15:clr>
            <a:srgbClr val="5ACBF0"/>
          </p15:clr>
        </p15:guide>
        <p15:guide id="3" pos="244">
          <p15:clr>
            <a:srgbClr val="F26B43"/>
          </p15:clr>
        </p15:guide>
        <p15:guide id="4" pos="5516">
          <p15:clr>
            <a:srgbClr val="F26B43"/>
          </p15:clr>
        </p15:guide>
        <p15:guide id="5" orient="horz" pos="548">
          <p15:clr>
            <a:srgbClr val="F26B43"/>
          </p15:clr>
        </p15:guide>
        <p15:guide id="6" orient="horz" pos="2981">
          <p15:clr>
            <a:srgbClr val="F26B43"/>
          </p15:clr>
        </p15:guide>
        <p15:guide id="7" orient="horz" pos="259">
          <p15:clr>
            <a:srgbClr val="5ACBF0"/>
          </p15:clr>
        </p15:guide>
        <p15:guide id="8" orient="horz" pos="140">
          <p15:clr>
            <a:srgbClr val="F26B43"/>
          </p15:clr>
        </p15:guide>
        <p15:guide id="9" pos="2846">
          <p15:clr>
            <a:srgbClr val="547EBF"/>
          </p15:clr>
        </p15:guide>
        <p15:guide id="10" pos="2914">
          <p15:clr>
            <a:srgbClr val="547EBF"/>
          </p15:clr>
        </p15:guide>
        <p15:guide id="11" pos="1536">
          <p15:clr>
            <a:srgbClr val="5ACBF0"/>
          </p15:clr>
        </p15:guide>
        <p15:guide id="12" pos="1502">
          <p15:clr>
            <a:srgbClr val="547EBF"/>
          </p15:clr>
        </p15:guide>
        <p15:guide id="13" pos="1571">
          <p15:clr>
            <a:srgbClr val="547EBF"/>
          </p15:clr>
        </p15:guide>
        <p15:guide id="14" pos="4207">
          <p15:clr>
            <a:srgbClr val="5ACBF0"/>
          </p15:clr>
        </p15:guide>
        <p15:guide id="15" pos="4173">
          <p15:clr>
            <a:srgbClr val="547EBF"/>
          </p15:clr>
        </p15:guide>
        <p15:guide id="16" pos="4241">
          <p15:clr>
            <a:srgbClr val="547EBF"/>
          </p15:clr>
        </p15:guide>
        <p15:guide id="17" pos="873">
          <p15:clr>
            <a:srgbClr val="5ACBF0"/>
          </p15:clr>
        </p15:guide>
        <p15:guide id="18" pos="2216">
          <p15:clr>
            <a:srgbClr val="5ACBF0"/>
          </p15:clr>
        </p15:guide>
        <p15:guide id="19" pos="3544">
          <p15:clr>
            <a:srgbClr val="5ACBF0"/>
          </p15:clr>
        </p15:guide>
        <p15:guide id="20" pos="4871">
          <p15:clr>
            <a:srgbClr val="5ACBF0"/>
          </p15:clr>
        </p15:guide>
        <p15:guide id="21" orient="horz" pos="1144">
          <p15:clr>
            <a:srgbClr val="5ACBF0"/>
          </p15:clr>
        </p15:guide>
        <p15:guide id="22" orient="horz" pos="2335">
          <p15:clr>
            <a:srgbClr val="5ACBF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Шаблон РЭУ/slide-1.png"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/>
          <p:nvPr/>
        </p:nvSpPr>
        <p:spPr>
          <a:xfrm>
            <a:off x="754380" y="3086100"/>
            <a:ext cx="7612380" cy="432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2200"/>
              <a:buFont typeface="Montserrat"/>
              <a:buNone/>
            </a:pPr>
            <a:r>
              <a:rPr b="1" i="0" lang="ru" sz="2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 РАБОТЫ КОМАНДЫ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22"/>
          <p:cNvSpPr/>
          <p:nvPr/>
        </p:nvSpPr>
        <p:spPr>
          <a:xfrm>
            <a:off x="754380" y="3504438"/>
            <a:ext cx="7646670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2000"/>
              <a:buFont typeface="Montserrat"/>
              <a:buNone/>
            </a:pPr>
            <a:r>
              <a:rPr b="1" i="0" lang="ru" sz="20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ЗА НЕДЕЛЮ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2"/>
          <p:cNvSpPr/>
          <p:nvPr/>
        </p:nvSpPr>
        <p:spPr>
          <a:xfrm>
            <a:off x="754371" y="3840465"/>
            <a:ext cx="76809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300"/>
              <a:buFont typeface="Montserrat"/>
              <a:buNone/>
            </a:pPr>
            <a:r>
              <a:rPr lang="ru" sz="13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М</a:t>
            </a:r>
            <a:r>
              <a:rPr b="0" i="0" lang="ru" sz="13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ониторинг и прогнозирование паводковых рисков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ИТОГИ НЕДЕЛИ: ЧТО ПОДГОТОВЛЕНО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123" name="Google Shape;1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b="0" i="0" lang="ru" sz="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/>
          <p:nvPr/>
        </p:nvSpPr>
        <p:spPr>
          <a:xfrm>
            <a:off x="514350" y="994410"/>
            <a:ext cx="2660904" cy="1543050"/>
          </a:xfrm>
          <a:prstGeom prst="roundRect">
            <a:avLst>
              <a:gd fmla="val 7111" name="adj"/>
            </a:avLst>
          </a:prstGeom>
          <a:solidFill>
            <a:srgbClr val="F3F6FA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665226" y="1117854"/>
            <a:ext cx="4800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4B4"/>
              </a:buClr>
              <a:buSzPts val="2200"/>
              <a:buFont typeface="Montserrat"/>
              <a:buNone/>
            </a:pPr>
            <a:r>
              <a:rPr b="1" i="0" lang="ru" sz="2200" u="none" cap="none" strike="noStrike">
                <a:solidFill>
                  <a:srgbClr val="2E74B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665226" y="1536192"/>
            <a:ext cx="2359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Ниша и актуальность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665226" y="1851660"/>
            <a:ext cx="2338578" cy="486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Определён прикладной сегмент и описаны климатические угрозы.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3380994" y="994410"/>
            <a:ext cx="2660904" cy="1543050"/>
          </a:xfrm>
          <a:prstGeom prst="roundRect">
            <a:avLst>
              <a:gd fmla="val 7111" name="adj"/>
            </a:avLst>
          </a:prstGeom>
          <a:solidFill>
            <a:srgbClr val="F3F6FA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3531870" y="1117854"/>
            <a:ext cx="4800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4B4"/>
              </a:buClr>
              <a:buSzPts val="2200"/>
              <a:buFont typeface="Montserrat"/>
              <a:buNone/>
            </a:pPr>
            <a:r>
              <a:rPr b="1" i="0" lang="ru" sz="2200" u="none" cap="none" strike="noStrike">
                <a:solidFill>
                  <a:srgbClr val="2E74B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3531870" y="1536192"/>
            <a:ext cx="2359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Анализ прогнозирования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3531870" y="1851660"/>
            <a:ext cx="2338578" cy="486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Сопоставлены методы, алгоритмы и горизонты прогнозов.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6247638" y="994410"/>
            <a:ext cx="2660904" cy="1543050"/>
          </a:xfrm>
          <a:prstGeom prst="roundRect">
            <a:avLst>
              <a:gd fmla="val 7111" name="adj"/>
            </a:avLst>
          </a:prstGeom>
          <a:solidFill>
            <a:srgbClr val="F3F6FA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6398514" y="1117854"/>
            <a:ext cx="4800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4B4"/>
              </a:buClr>
              <a:buSzPts val="2200"/>
              <a:buFont typeface="Montserrat"/>
              <a:buNone/>
            </a:pPr>
            <a:r>
              <a:rPr b="1" i="0" lang="ru" sz="2200" u="none" cap="none" strike="noStrike">
                <a:solidFill>
                  <a:srgbClr val="2E74B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6398514" y="1536192"/>
            <a:ext cx="2359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Стейкхолдеры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6398514" y="1851660"/>
            <a:ext cx="2338578" cy="486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Реестр из 11 участников и матрица влияния / интереса.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1947672" y="2777490"/>
            <a:ext cx="2660904" cy="1543050"/>
          </a:xfrm>
          <a:prstGeom prst="roundRect">
            <a:avLst>
              <a:gd fmla="val 7111" name="adj"/>
            </a:avLst>
          </a:prstGeom>
          <a:solidFill>
            <a:srgbClr val="F3F6FA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/>
          <p:nvPr/>
        </p:nvSpPr>
        <p:spPr>
          <a:xfrm>
            <a:off x="2098548" y="2900934"/>
            <a:ext cx="4800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4B4"/>
              </a:buClr>
              <a:buSzPts val="2200"/>
              <a:buFont typeface="Montserrat"/>
              <a:buNone/>
            </a:pPr>
            <a:r>
              <a:rPr b="1" i="0" lang="ru" sz="2200" u="none" cap="none" strike="noStrike">
                <a:solidFill>
                  <a:srgbClr val="2E74B4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2098548" y="3319272"/>
            <a:ext cx="2359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Требования и сценарии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2098548" y="3634740"/>
            <a:ext cx="2338578" cy="486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31 требование MoSCoW, 10 пользовательских историй, UML.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4814316" y="2777490"/>
            <a:ext cx="2660904" cy="1543050"/>
          </a:xfrm>
          <a:prstGeom prst="roundRect">
            <a:avLst>
              <a:gd fmla="val 7111" name="adj"/>
            </a:avLst>
          </a:prstGeom>
          <a:solidFill>
            <a:srgbClr val="F3F6FA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4965192" y="2900934"/>
            <a:ext cx="4800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4B4"/>
              </a:buClr>
              <a:buSzPts val="2200"/>
              <a:buFont typeface="Montserrat"/>
              <a:buNone/>
            </a:pPr>
            <a:r>
              <a:rPr b="1" i="0" lang="ru" sz="2200" u="none" cap="none" strike="noStrike">
                <a:solidFill>
                  <a:srgbClr val="2E74B4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4965192" y="3319272"/>
            <a:ext cx="2359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Визуальный прототип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4965192" y="3634740"/>
            <a:ext cx="2338578" cy="486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Четыре цветовых варианта единого дашборда.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ОПРЕДЕЛЕНА НИША ПРОЕКТА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b="0" i="0" lang="ru" sz="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562356" y="918972"/>
            <a:ext cx="2990088" cy="219456"/>
          </a:xfrm>
          <a:prstGeom prst="roundRect">
            <a:avLst>
              <a:gd fmla="val 28125" name="adj"/>
            </a:avLst>
          </a:prstGeom>
          <a:solidFill>
            <a:srgbClr val="EDF3F9"/>
          </a:solidFill>
          <a:ln cap="flat" cmpd="sng" w="9525">
            <a:solidFill>
              <a:srgbClr val="EDF3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617220" y="953262"/>
            <a:ext cx="2880360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800"/>
              <a:buFont typeface="Montserrat"/>
              <a:buNone/>
            </a:pPr>
            <a:r>
              <a:rPr b="1" i="0" lang="ru" sz="8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B2B • управление паводковыми рисками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548640" y="1261872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Специализированная система для риск-менеджеров кредитных организаций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548640" y="2084832"/>
            <a:ext cx="2599182" cy="1721358"/>
          </a:xfrm>
          <a:prstGeom prst="roundRect">
            <a:avLst>
              <a:gd fmla="val 5179" name="adj"/>
            </a:avLst>
          </a:prstGeom>
          <a:solidFill>
            <a:srgbClr val="F2F2F2"/>
          </a:solidFill>
          <a:ln cap="flat" cmpd="sng" w="9525">
            <a:solidFill>
              <a:srgbClr val="E2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548640" y="2084832"/>
            <a:ext cx="65151" cy="1721358"/>
          </a:xfrm>
          <a:prstGeom prst="rect">
            <a:avLst/>
          </a:prstGeom>
          <a:solidFill>
            <a:srgbClr val="005593"/>
          </a:solidFill>
          <a:ln cap="flat" cmpd="sng" w="9525">
            <a:solidFill>
              <a:srgbClr val="00559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699516" y="2201418"/>
            <a:ext cx="3086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1076706" y="2187702"/>
            <a:ext cx="1906524" cy="294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Мониторинг по России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083564" y="2510028"/>
            <a:ext cx="188595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Данные гидропостов → нормативные пороги → статусы и карта в одном дашборде.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3278124" y="2084832"/>
            <a:ext cx="2599182" cy="1721358"/>
          </a:xfrm>
          <a:prstGeom prst="roundRect">
            <a:avLst>
              <a:gd fmla="val 5179" name="adj"/>
            </a:avLst>
          </a:prstGeom>
          <a:solidFill>
            <a:srgbClr val="F2F2F2"/>
          </a:solidFill>
          <a:ln cap="flat" cmpd="sng" w="9525">
            <a:solidFill>
              <a:srgbClr val="E2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3278124" y="2084832"/>
            <a:ext cx="65151" cy="1721358"/>
          </a:xfrm>
          <a:prstGeom prst="rect">
            <a:avLst/>
          </a:prstGeom>
          <a:solidFill>
            <a:srgbClr val="ED7D31"/>
          </a:solidFill>
          <a:ln cap="flat" cmpd="sng" w="9525">
            <a:solidFill>
              <a:srgbClr val="ED7D3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3429000" y="2201418"/>
            <a:ext cx="3086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ED7D3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3806190" y="2187702"/>
            <a:ext cx="1906524" cy="294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ML-прогноз на Амуре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3813048" y="2510028"/>
            <a:ext cx="188595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Фокус модели — район Хабаровска: история уровня, осадки, снег, температура и вышестоящие посты.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6007608" y="2084832"/>
            <a:ext cx="2599182" cy="1721358"/>
          </a:xfrm>
          <a:prstGeom prst="roundRect">
            <a:avLst>
              <a:gd fmla="val 5179" name="adj"/>
            </a:avLst>
          </a:prstGeom>
          <a:solidFill>
            <a:srgbClr val="F2F2F2"/>
          </a:solidFill>
          <a:ln cap="flat" cmpd="sng" w="9525">
            <a:solidFill>
              <a:srgbClr val="E2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6007608" y="2084832"/>
            <a:ext cx="65151" cy="1721358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2E74B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6158484" y="2201418"/>
            <a:ext cx="3086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4B4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2E74B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6535674" y="2187702"/>
            <a:ext cx="1906524" cy="294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Практическая ценность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6542532" y="2510028"/>
            <a:ext cx="188595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Не просто график воды, а инструмент заблаговременной оценки риска для конкретных объектов.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548640" y="4224528"/>
            <a:ext cx="8058150" cy="425196"/>
          </a:xfrm>
          <a:prstGeom prst="roundRect">
            <a:avLst>
              <a:gd fmla="val 16129" name="adj"/>
            </a:avLst>
          </a:prstGeom>
          <a:solidFill>
            <a:srgbClr val="EBF2F9"/>
          </a:solidFill>
          <a:ln cap="flat" cmpd="sng" w="9525">
            <a:solidFill>
              <a:srgbClr val="EBF2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740664" y="4306824"/>
            <a:ext cx="76123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 недели: сформулированы границы проекта и его отличие от универсальных риск-платформ.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СФОРМИРОВАН ПЕРЕЧЕНЬ КЛИМАТИЧЕСКИХ УГРОЗ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b="0" i="0" lang="ru" sz="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548640" y="1062990"/>
            <a:ext cx="2592324" cy="1501902"/>
          </a:xfrm>
          <a:prstGeom prst="roundRect">
            <a:avLst>
              <a:gd fmla="val 4566" name="adj"/>
            </a:avLst>
          </a:prstGeom>
          <a:solidFill>
            <a:srgbClr val="F3F6FA"/>
          </a:solidFill>
          <a:ln cap="flat" cmpd="sng" w="9525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5"/>
          <p:cNvSpPr/>
          <p:nvPr/>
        </p:nvSpPr>
        <p:spPr>
          <a:xfrm>
            <a:off x="548640" y="1062990"/>
            <a:ext cx="82296" cy="1501902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713232" y="1159002"/>
            <a:ext cx="44577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706374" y="1481328"/>
            <a:ext cx="224942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Продолжительные осадки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706374" y="1865376"/>
            <a:ext cx="220827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Накопление влаги и быстрый рост стока.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3394710" y="1062990"/>
            <a:ext cx="2592324" cy="1501902"/>
          </a:xfrm>
          <a:prstGeom prst="roundRect">
            <a:avLst>
              <a:gd fmla="val 4566" name="adj"/>
            </a:avLst>
          </a:prstGeom>
          <a:solidFill>
            <a:srgbClr val="F3F6FA"/>
          </a:solidFill>
          <a:ln cap="flat" cmpd="sng" w="9525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3394710" y="1062990"/>
            <a:ext cx="82296" cy="1501902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3559302" y="1159002"/>
            <a:ext cx="44577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3552444" y="1481328"/>
            <a:ext cx="224942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Снеготаяние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3552444" y="1865376"/>
            <a:ext cx="220827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Сезонное половодье при потеплении.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6240780" y="1062990"/>
            <a:ext cx="2592324" cy="1501902"/>
          </a:xfrm>
          <a:prstGeom prst="roundRect">
            <a:avLst>
              <a:gd fmla="val 4566" name="adj"/>
            </a:avLst>
          </a:prstGeom>
          <a:solidFill>
            <a:srgbClr val="F3F6FA"/>
          </a:solidFill>
          <a:ln cap="flat" cmpd="sng" w="9525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6240780" y="1062990"/>
            <a:ext cx="82296" cy="1501902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405372" y="1159002"/>
            <a:ext cx="44577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6398514" y="1481328"/>
            <a:ext cx="224942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Паводковая волна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6398514" y="1865376"/>
            <a:ext cx="220827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Изменения выше по течению; задержка 4–14 суток в проектных данных.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1940814" y="2811780"/>
            <a:ext cx="2592324" cy="1501902"/>
          </a:xfrm>
          <a:prstGeom prst="roundRect">
            <a:avLst>
              <a:gd fmla="val 4566" name="adj"/>
            </a:avLst>
          </a:prstGeom>
          <a:solidFill>
            <a:srgbClr val="F3F6FA"/>
          </a:solidFill>
          <a:ln cap="flat" cmpd="sng" w="9525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1940814" y="2811780"/>
            <a:ext cx="82296" cy="1501902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2105406" y="2907792"/>
            <a:ext cx="44577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2098548" y="3230118"/>
            <a:ext cx="224942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Трансграничный водосбор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2098548" y="3614166"/>
            <a:ext cx="220827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Осадки в маньчжурской части бассейна Амура.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4786884" y="2811780"/>
            <a:ext cx="2592324" cy="1501902"/>
          </a:xfrm>
          <a:prstGeom prst="roundRect">
            <a:avLst>
              <a:gd fmla="val 4566" name="adj"/>
            </a:avLst>
          </a:prstGeom>
          <a:solidFill>
            <a:srgbClr val="F3F6FA"/>
          </a:solidFill>
          <a:ln cap="flat" cmpd="sng" w="9525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4786884" y="2811780"/>
            <a:ext cx="82296" cy="150190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4951476" y="2907792"/>
            <a:ext cx="44577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4944618" y="3230118"/>
            <a:ext cx="224942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Превышение порогов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944618" y="3614166"/>
            <a:ext cx="220827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Переход между статусами от нормы до опасного уровня.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i="0" lang="ru" sz="1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ОБОСНОВАНА АКТУАЛЬНОСТЬ РЕШЕНИЯ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230" name="Google Shape;2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6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b="0" i="0" lang="ru" sz="7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582930" y="987552"/>
            <a:ext cx="3826764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Montserrat"/>
              <a:buNone/>
            </a:pPr>
            <a:r>
              <a:rPr b="1" i="0" lang="ru" sz="1400" u="none" cap="none" strike="noStrike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Сейчас: реагирование после инцидента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4793742" y="987552"/>
            <a:ext cx="387477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400"/>
              <a:buFont typeface="Montserrat"/>
              <a:buNone/>
            </a:pPr>
            <a:r>
              <a:rPr b="1" i="0" lang="ru" sz="1400" u="none" cap="none" strike="noStrike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Предлагается: заблаговременная оценка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548640" y="1447038"/>
            <a:ext cx="3881628" cy="2352294"/>
          </a:xfrm>
          <a:prstGeom prst="roundRect">
            <a:avLst>
              <a:gd fmla="val 3499" name="adj"/>
            </a:avLst>
          </a:prstGeom>
          <a:solidFill>
            <a:srgbClr val="FDF2F1"/>
          </a:solidFill>
          <a:ln cap="flat" cmpd="sng" w="9525">
            <a:solidFill>
              <a:srgbClr val="F2D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4718304" y="1447038"/>
            <a:ext cx="3881628" cy="2352294"/>
          </a:xfrm>
          <a:prstGeom prst="roundRect">
            <a:avLst>
              <a:gd fmla="val 3499" name="adj"/>
            </a:avLst>
          </a:prstGeom>
          <a:solidFill>
            <a:srgbClr val="EEF5FC"/>
          </a:solidFill>
          <a:ln cap="flat" cmpd="sng" w="9525">
            <a:solidFill>
              <a:srgbClr val="CFDF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754380" y="1639062"/>
            <a:ext cx="341528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Ручной осмотр и отдельные отчёты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910328" y="1639062"/>
            <a:ext cx="3435858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Автоматический сбор уровней и погоды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754380" y="2139696"/>
            <a:ext cx="341528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Подтопление может выявляться постфактум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4910328" y="2139696"/>
            <a:ext cx="3435858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Статусы гидропостов и исторические графики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754380" y="2640330"/>
            <a:ext cx="341528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Нет единой сводки по сети объектов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4910328" y="2640330"/>
            <a:ext cx="3435858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ML-прогноз уровня воды у Хабаровска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754380" y="3140964"/>
            <a:ext cx="341528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Зависимость от времени работы и персонала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4910328" y="3140964"/>
            <a:ext cx="3435858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b="0" i="0" lang="ru" sz="1000" u="none" cap="none" strike="noStrike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• Основа для превентивных защитных мер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891540" y="4046220"/>
            <a:ext cx="7351776" cy="500634"/>
          </a:xfrm>
          <a:prstGeom prst="roundRect">
            <a:avLst>
              <a:gd fmla="val 10959" name="adj"/>
            </a:avLst>
          </a:prstGeom>
          <a:solidFill>
            <a:srgbClr val="E8F1F8"/>
          </a:solidFill>
          <a:ln cap="flat" cmpd="sng" w="9525">
            <a:solidFill>
              <a:srgbClr val="E8F1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1062990" y="4135374"/>
            <a:ext cx="702259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Ключевая ценность: сократить время между появлением угрозы и решением о защите объекта.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title"/>
          </p:nvPr>
        </p:nvSpPr>
        <p:spPr>
          <a:xfrm>
            <a:off x="457181" y="304787"/>
            <a:ext cx="6769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4D87"/>
              </a:buClr>
              <a:buSzPts val="2000"/>
              <a:buFont typeface="Montserrat"/>
              <a:buNone/>
            </a:pPr>
            <a:r>
              <a:rPr b="1" i="0" lang="ru" sz="2000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rPr>
              <a:t>АНАЛИЗ СУЩЕСТВУЮЩИХ МЕТОДОВ МОНИТОРИНГА РИСКОВ ПАВОДКА</a:t>
            </a:r>
            <a:endParaRPr sz="2000"/>
          </a:p>
        </p:txBody>
      </p:sp>
      <p:sp>
        <p:nvSpPr>
          <p:cNvPr id="258" name="Google Shape;258;p27"/>
          <p:cNvSpPr/>
          <p:nvPr/>
        </p:nvSpPr>
        <p:spPr>
          <a:xfrm>
            <a:off x="457181" y="1047688"/>
            <a:ext cx="209400" cy="28500"/>
          </a:xfrm>
          <a:prstGeom prst="roundRect">
            <a:avLst>
              <a:gd fmla="val 50000" name="adj"/>
            </a:avLst>
          </a:prstGeom>
          <a:solidFill>
            <a:srgbClr val="ABCE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704815" y="1047688"/>
            <a:ext cx="209700" cy="28500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952475" y="1047688"/>
            <a:ext cx="209400" cy="28500"/>
          </a:xfrm>
          <a:prstGeom prst="roundRect">
            <a:avLst>
              <a:gd fmla="val 50000" name="adj"/>
            </a:avLst>
          </a:prstGeom>
          <a:solidFill>
            <a:srgbClr val="124D8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1200107" y="1047688"/>
            <a:ext cx="209700" cy="28500"/>
          </a:xfrm>
          <a:prstGeom prst="roundRect">
            <a:avLst>
              <a:gd fmla="val 50000" name="adj"/>
            </a:avLst>
          </a:prstGeom>
          <a:solidFill>
            <a:srgbClr val="0B2D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457181" y="1209565"/>
            <a:ext cx="2641500" cy="3362400"/>
          </a:xfrm>
          <a:prstGeom prst="roundRect">
            <a:avLst>
              <a:gd fmla="val 5048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647661" y="1400044"/>
            <a:ext cx="23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F9BE7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4F9BE7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647661" y="1668606"/>
            <a:ext cx="2328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Гидродинамические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модели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647661" y="2114315"/>
            <a:ext cx="2328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Численное решение уравнений Сен-Венана и мелкой воды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647661" y="2506746"/>
            <a:ext cx="703729" cy="217118"/>
          </a:xfrm>
          <a:custGeom>
            <a:rect b="b" l="l" r="r" t="t"/>
            <a:pathLst>
              <a:path extrusionOk="0" h="289491" w="938306">
                <a:moveTo>
                  <a:pt x="144746" y="0"/>
                </a:moveTo>
                <a:lnTo>
                  <a:pt x="793561" y="0"/>
                </a:lnTo>
                <a:cubicBezTo>
                  <a:pt x="831950" y="0"/>
                  <a:pt x="868767" y="15250"/>
                  <a:pt x="895912" y="42395"/>
                </a:cubicBezTo>
                <a:cubicBezTo>
                  <a:pt x="923057" y="69540"/>
                  <a:pt x="938307" y="106357"/>
                  <a:pt x="938307" y="144746"/>
                </a:cubicBezTo>
                <a:lnTo>
                  <a:pt x="938306" y="144746"/>
                </a:lnTo>
                <a:cubicBezTo>
                  <a:pt x="938306" y="224687"/>
                  <a:pt x="873501" y="289492"/>
                  <a:pt x="793560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HEC-RAS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1399010" y="2506746"/>
            <a:ext cx="589990" cy="217118"/>
          </a:xfrm>
          <a:custGeom>
            <a:rect b="b" l="l" r="r" t="t"/>
            <a:pathLst>
              <a:path extrusionOk="0" h="289491" w="786653">
                <a:moveTo>
                  <a:pt x="144746" y="0"/>
                </a:moveTo>
                <a:lnTo>
                  <a:pt x="641907" y="0"/>
                </a:lnTo>
                <a:cubicBezTo>
                  <a:pt x="680296" y="0"/>
                  <a:pt x="717113" y="15250"/>
                  <a:pt x="744258" y="42395"/>
                </a:cubicBezTo>
                <a:cubicBezTo>
                  <a:pt x="771403" y="69540"/>
                  <a:pt x="786653" y="106357"/>
                  <a:pt x="786653" y="144746"/>
                </a:cubicBezTo>
                <a:lnTo>
                  <a:pt x="786653" y="144746"/>
                </a:lnTo>
                <a:cubicBezTo>
                  <a:pt x="786653" y="224687"/>
                  <a:pt x="721848" y="289492"/>
                  <a:pt x="641907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MIKE 11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647661" y="2771485"/>
            <a:ext cx="930822" cy="217118"/>
          </a:xfrm>
          <a:custGeom>
            <a:rect b="b" l="l" r="r" t="t"/>
            <a:pathLst>
              <a:path extrusionOk="0" h="289491" w="1241096">
                <a:moveTo>
                  <a:pt x="144746" y="0"/>
                </a:moveTo>
                <a:lnTo>
                  <a:pt x="1096350" y="0"/>
                </a:lnTo>
                <a:cubicBezTo>
                  <a:pt x="1134739" y="0"/>
                  <a:pt x="1171556" y="15250"/>
                  <a:pt x="1198701" y="42395"/>
                </a:cubicBezTo>
                <a:cubicBezTo>
                  <a:pt x="1225846" y="69540"/>
                  <a:pt x="1241096" y="106357"/>
                  <a:pt x="1241096" y="144746"/>
                </a:cubicBezTo>
                <a:lnTo>
                  <a:pt x="1241096" y="144746"/>
                </a:lnTo>
                <a:cubicBezTo>
                  <a:pt x="1241096" y="224687"/>
                  <a:pt x="1176291" y="289492"/>
                  <a:pt x="1096350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MIKE FLOOD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647661" y="3083842"/>
            <a:ext cx="2328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864B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1864B0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 Детальные карты зон затопления, сценарии прорыва дамбы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647661" y="3476273"/>
            <a:ext cx="2328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B1F03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AB1F03"/>
                </a:solidFill>
                <a:latin typeface="Montserrat"/>
                <a:ea typeface="Montserrat"/>
                <a:cs typeface="Montserrat"/>
                <a:sym typeface="Montserrat"/>
              </a:rPr>
              <a:t>−</a:t>
            </a: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 Нужны закрытые профили русла, расчёт сценария занимает часы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647661" y="3943351"/>
            <a:ext cx="2260500" cy="438300"/>
          </a:xfrm>
          <a:prstGeom prst="roundRect">
            <a:avLst>
              <a:gd fmla="val 19565" name="adj"/>
            </a:avLst>
          </a:prstGeom>
          <a:solidFill>
            <a:srgbClr val="F6DDD8"/>
          </a:solidFill>
          <a:ln>
            <a:noFill/>
          </a:ln>
        </p:spPr>
        <p:txBody>
          <a:bodyPr anchorCtr="0" anchor="t" bIns="32025" lIns="79650" spcFirstLastPara="1" rIns="18125" wrap="square" tIns="510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1902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8A1902"/>
                </a:solidFill>
                <a:latin typeface="Montserrat"/>
                <a:ea typeface="Montserrat"/>
                <a:cs typeface="Montserrat"/>
                <a:sym typeface="Montserrat"/>
              </a:rPr>
              <a:t>Не подходит для оперативного прогноза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3251171" y="1209565"/>
            <a:ext cx="2641500" cy="3362400"/>
          </a:xfrm>
          <a:prstGeom prst="roundRect">
            <a:avLst>
              <a:gd fmla="val 5048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3441650" y="1400044"/>
            <a:ext cx="23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F9BE7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4F9BE7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3441650" y="1668606"/>
            <a:ext cx="2328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Статистические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200"/>
              <a:buFont typeface="Montserrat"/>
              <a:buNone/>
            </a:pPr>
            <a:r>
              <a:rPr b="1" i="0" lang="ru" sz="12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методы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3441650" y="2114315"/>
            <a:ext cx="2328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Будущие значения ряда определяются его прошлыми значениями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3441650" y="2655342"/>
            <a:ext cx="1133962" cy="217118"/>
          </a:xfrm>
          <a:custGeom>
            <a:rect b="b" l="l" r="r" t="t"/>
            <a:pathLst>
              <a:path extrusionOk="0" h="289491" w="1511949">
                <a:moveTo>
                  <a:pt x="144746" y="0"/>
                </a:moveTo>
                <a:lnTo>
                  <a:pt x="1367203" y="0"/>
                </a:lnTo>
                <a:cubicBezTo>
                  <a:pt x="1405592" y="0"/>
                  <a:pt x="1442409" y="15250"/>
                  <a:pt x="1469554" y="42395"/>
                </a:cubicBezTo>
                <a:cubicBezTo>
                  <a:pt x="1496699" y="69540"/>
                  <a:pt x="1511949" y="106357"/>
                  <a:pt x="1511949" y="144746"/>
                </a:cubicBezTo>
                <a:lnTo>
                  <a:pt x="1511949" y="144746"/>
                </a:lnTo>
                <a:cubicBezTo>
                  <a:pt x="1511949" y="224687"/>
                  <a:pt x="1447144" y="289492"/>
                  <a:pt x="1367203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ARIMA / SARIMA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4623232" y="2655342"/>
            <a:ext cx="385015" cy="217118"/>
          </a:xfrm>
          <a:custGeom>
            <a:rect b="b" l="l" r="r" t="t"/>
            <a:pathLst>
              <a:path extrusionOk="0" h="289491" w="513354">
                <a:moveTo>
                  <a:pt x="144746" y="0"/>
                </a:moveTo>
                <a:lnTo>
                  <a:pt x="368608" y="0"/>
                </a:lnTo>
                <a:cubicBezTo>
                  <a:pt x="406997" y="0"/>
                  <a:pt x="443814" y="15250"/>
                  <a:pt x="470959" y="42395"/>
                </a:cubicBezTo>
                <a:cubicBezTo>
                  <a:pt x="498104" y="69540"/>
                  <a:pt x="513354" y="106357"/>
                  <a:pt x="513354" y="144746"/>
                </a:cubicBezTo>
                <a:lnTo>
                  <a:pt x="513354" y="144746"/>
                </a:lnTo>
                <a:cubicBezTo>
                  <a:pt x="513354" y="224687"/>
                  <a:pt x="448549" y="289492"/>
                  <a:pt x="368608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ETS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5055867" y="2655342"/>
            <a:ext cx="642984" cy="217118"/>
          </a:xfrm>
          <a:custGeom>
            <a:rect b="b" l="l" r="r" t="t"/>
            <a:pathLst>
              <a:path extrusionOk="0" h="289491" w="857312">
                <a:moveTo>
                  <a:pt x="144746" y="0"/>
                </a:moveTo>
                <a:lnTo>
                  <a:pt x="712566" y="0"/>
                </a:lnTo>
                <a:cubicBezTo>
                  <a:pt x="750955" y="0"/>
                  <a:pt x="787772" y="15250"/>
                  <a:pt x="814917" y="42395"/>
                </a:cubicBezTo>
                <a:cubicBezTo>
                  <a:pt x="842062" y="69540"/>
                  <a:pt x="857312" y="106357"/>
                  <a:pt x="857312" y="144746"/>
                </a:cubicBezTo>
                <a:lnTo>
                  <a:pt x="857312" y="144746"/>
                </a:lnTo>
                <a:cubicBezTo>
                  <a:pt x="857312" y="224687"/>
                  <a:pt x="792507" y="289492"/>
                  <a:pt x="712566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Prophet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3441650" y="2967700"/>
            <a:ext cx="2328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864B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1864B0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 Короткий горизонт и долгосрочный сезонный прогноз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3441650" y="3360131"/>
            <a:ext cx="23286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B1F03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AB1F03"/>
                </a:solidFill>
                <a:latin typeface="Montserrat"/>
                <a:ea typeface="Montserrat"/>
                <a:cs typeface="Montserrat"/>
                <a:sym typeface="Montserrat"/>
              </a:rPr>
              <a:t>−</a:t>
            </a: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 Не учитывают внешние данные: вышестоящие посты, осадки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3441650" y="3943351"/>
            <a:ext cx="2260800" cy="438300"/>
          </a:xfrm>
          <a:prstGeom prst="roundRect">
            <a:avLst>
              <a:gd fmla="val 19565" name="adj"/>
            </a:avLst>
          </a:prstGeom>
          <a:solidFill>
            <a:srgbClr val="D6E6F8"/>
          </a:solidFill>
          <a:ln>
            <a:noFill/>
          </a:ln>
        </p:spPr>
        <p:txBody>
          <a:bodyPr anchorCtr="0" anchor="t" bIns="32025" lIns="79650" spcFirstLastPara="1" rIns="18125" wrap="square" tIns="510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4D87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rPr>
              <a:t>Сезонный прогноз на год (Prophet)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6045186" y="1209565"/>
            <a:ext cx="2641500" cy="3362400"/>
          </a:xfrm>
          <a:prstGeom prst="roundRect">
            <a:avLst>
              <a:gd fmla="val 5048" name="adj"/>
            </a:avLst>
          </a:prstGeom>
          <a:solidFill>
            <a:srgbClr val="124D8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6235666" y="1400044"/>
            <a:ext cx="2328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67"/>
              </a:lnSpc>
              <a:spcBef>
                <a:spcPts val="0"/>
              </a:spcBef>
              <a:spcAft>
                <a:spcPts val="0"/>
              </a:spcAft>
              <a:buClr>
                <a:srgbClr val="ABCEF4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ABCEF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6235666" y="1659511"/>
            <a:ext cx="23286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Машинное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6235666" y="2086850"/>
            <a:ext cx="23286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Регрессия: по признакам состояния в момент t прогнозируется уровень в t+h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6235666" y="2604518"/>
            <a:ext cx="1065568" cy="217118"/>
          </a:xfrm>
          <a:custGeom>
            <a:rect b="b" l="l" r="r" t="t"/>
            <a:pathLst>
              <a:path extrusionOk="0" h="289491" w="1420757">
                <a:moveTo>
                  <a:pt x="144746" y="0"/>
                </a:moveTo>
                <a:lnTo>
                  <a:pt x="1276012" y="0"/>
                </a:lnTo>
                <a:cubicBezTo>
                  <a:pt x="1314401" y="0"/>
                  <a:pt x="1351218" y="15250"/>
                  <a:pt x="1378363" y="42395"/>
                </a:cubicBezTo>
                <a:cubicBezTo>
                  <a:pt x="1405508" y="69540"/>
                  <a:pt x="1420758" y="106357"/>
                  <a:pt x="1420758" y="144746"/>
                </a:cubicBezTo>
                <a:lnTo>
                  <a:pt x="1420757" y="144746"/>
                </a:lnTo>
                <a:cubicBezTo>
                  <a:pt x="1420757" y="224687"/>
                  <a:pt x="1355952" y="289492"/>
                  <a:pt x="1276011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2A62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7348854" y="2604518"/>
            <a:ext cx="650529" cy="217118"/>
          </a:xfrm>
          <a:custGeom>
            <a:rect b="b" l="l" r="r" t="t"/>
            <a:pathLst>
              <a:path extrusionOk="0" h="289491" w="867372">
                <a:moveTo>
                  <a:pt x="144746" y="0"/>
                </a:moveTo>
                <a:lnTo>
                  <a:pt x="722626" y="0"/>
                </a:lnTo>
                <a:cubicBezTo>
                  <a:pt x="761015" y="0"/>
                  <a:pt x="797832" y="15250"/>
                  <a:pt x="824977" y="42395"/>
                </a:cubicBezTo>
                <a:cubicBezTo>
                  <a:pt x="852122" y="69540"/>
                  <a:pt x="867372" y="106357"/>
                  <a:pt x="867372" y="144746"/>
                </a:cubicBezTo>
                <a:lnTo>
                  <a:pt x="867372" y="144746"/>
                </a:lnTo>
                <a:cubicBezTo>
                  <a:pt x="867372" y="224687"/>
                  <a:pt x="802567" y="289492"/>
                  <a:pt x="722626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2A62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Бустинг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6235666" y="2869256"/>
            <a:ext cx="484621" cy="217118"/>
          </a:xfrm>
          <a:custGeom>
            <a:rect b="b" l="l" r="r" t="t"/>
            <a:pathLst>
              <a:path extrusionOk="0" h="289491" w="646162">
                <a:moveTo>
                  <a:pt x="144746" y="0"/>
                </a:moveTo>
                <a:lnTo>
                  <a:pt x="501416" y="0"/>
                </a:lnTo>
                <a:cubicBezTo>
                  <a:pt x="539805" y="0"/>
                  <a:pt x="576622" y="15250"/>
                  <a:pt x="603767" y="42395"/>
                </a:cubicBezTo>
                <a:cubicBezTo>
                  <a:pt x="630912" y="69540"/>
                  <a:pt x="646162" y="106357"/>
                  <a:pt x="646162" y="144746"/>
                </a:cubicBezTo>
                <a:lnTo>
                  <a:pt x="646162" y="144746"/>
                </a:lnTo>
                <a:cubicBezTo>
                  <a:pt x="646162" y="224687"/>
                  <a:pt x="581357" y="289492"/>
                  <a:pt x="501416" y="289492"/>
                </a:cubicBezTo>
                <a:lnTo>
                  <a:pt x="144746" y="289491"/>
                </a:lnTo>
                <a:cubicBezTo>
                  <a:pt x="64805" y="289491"/>
                  <a:pt x="0" y="224686"/>
                  <a:pt x="0" y="144745"/>
                </a:cubicBezTo>
                <a:lnTo>
                  <a:pt x="0" y="144746"/>
                </a:lnTo>
                <a:cubicBezTo>
                  <a:pt x="0" y="64805"/>
                  <a:pt x="64805" y="0"/>
                  <a:pt x="144746" y="0"/>
                </a:cubicBezTo>
                <a:close/>
              </a:path>
            </a:pathLst>
          </a:custGeom>
          <a:solidFill>
            <a:srgbClr val="2A62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LSTM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6235666" y="3156396"/>
            <a:ext cx="23286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22"/>
              </a:lnSpc>
              <a:spcBef>
                <a:spcPts val="0"/>
              </a:spcBef>
              <a:spcAft>
                <a:spcPts val="0"/>
              </a:spcAft>
              <a:buClr>
                <a:srgbClr val="ABCEF4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ABCEF4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Учитывает прогноз погоды, осадки и вышестоящие посты, быстро считается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6235666" y="3674065"/>
            <a:ext cx="23286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F4B4A6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F4B4A6"/>
                </a:solidFill>
                <a:latin typeface="Montserrat"/>
                <a:ea typeface="Montserrat"/>
                <a:cs typeface="Montserrat"/>
                <a:sym typeface="Montserrat"/>
              </a:rPr>
              <a:t>−</a:t>
            </a: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Горизонт ограничен доступностью входных данных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6235666" y="3955676"/>
            <a:ext cx="2260800" cy="425700"/>
          </a:xfrm>
          <a:prstGeom prst="roundRect">
            <a:avLst>
              <a:gd fmla="val 20131" name="adj"/>
            </a:avLst>
          </a:prstGeom>
          <a:solidFill>
            <a:srgbClr val="ABCEF4"/>
          </a:solidFill>
          <a:ln>
            <a:noFill/>
          </a:ln>
        </p:spPr>
        <p:txBody>
          <a:bodyPr anchorCtr="0" anchor="t" bIns="32025" lIns="0" spcFirstLastPara="1" rIns="0" wrap="square" tIns="51075">
            <a:noAutofit/>
          </a:bodyPr>
          <a:lstStyle/>
          <a:p>
            <a:pPr indent="0" lvl="0" marL="0" marR="0" rtl="0" algn="ctr">
              <a:lnSpc>
                <a:spcPct val="125063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Основа краткосрочного прогноза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РЭУ им. Г.В. Плеханова"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-261" r="-251" t="0"/>
          <a:stretch/>
        </p:blipFill>
        <p:spPr>
          <a:xfrm>
            <a:off x="7353298" y="209548"/>
            <a:ext cx="1333485" cy="49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/>
          <p:nvPr/>
        </p:nvSpPr>
        <p:spPr>
          <a:xfrm>
            <a:off x="8058149" y="4754878"/>
            <a:ext cx="4191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8591543" y="4762500"/>
            <a:ext cx="38100" cy="38100"/>
          </a:xfrm>
          <a:prstGeom prst="roundRect">
            <a:avLst>
              <a:gd fmla="val 25009" name="adj"/>
            </a:avLst>
          </a:prstGeom>
          <a:solidFill>
            <a:srgbClr val="AB1F0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8591543" y="4819628"/>
            <a:ext cx="38100" cy="38100"/>
          </a:xfrm>
          <a:prstGeom prst="roundRect">
            <a:avLst>
              <a:gd fmla="val 25009" name="adj"/>
            </a:avLst>
          </a:prstGeom>
          <a:solidFill>
            <a:srgbClr val="86BA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8591543" y="4876757"/>
            <a:ext cx="38100" cy="38100"/>
          </a:xfrm>
          <a:prstGeom prst="roundRect">
            <a:avLst>
              <a:gd fmla="val 25009" name="adj"/>
            </a:avLst>
          </a:prstGeom>
          <a:solidFill>
            <a:srgbClr val="0B2D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7"/>
          <p:cNvSpPr/>
          <p:nvPr/>
        </p:nvSpPr>
        <p:spPr>
          <a:xfrm>
            <a:off x="8591543" y="4933885"/>
            <a:ext cx="38100" cy="38100"/>
          </a:xfrm>
          <a:prstGeom prst="roundRect">
            <a:avLst>
              <a:gd fmla="val 25009" name="adj"/>
            </a:avLst>
          </a:prstGeom>
          <a:solidFill>
            <a:srgbClr val="1864B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/>
          <p:nvPr>
            <p:ph type="title"/>
          </p:nvPr>
        </p:nvSpPr>
        <p:spPr>
          <a:xfrm>
            <a:off x="457181" y="304788"/>
            <a:ext cx="6769401" cy="573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4D87"/>
              </a:buClr>
              <a:buSzPts val="2000"/>
              <a:buFont typeface="Montserrat"/>
              <a:buNone/>
            </a:pPr>
            <a:r>
              <a:rPr b="1" i="0" lang="ru" sz="2000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rPr>
              <a:t>АНАЛИЗ СУЩЕСТВУЮЩИХ АЛГОРИТМОВ ОБУЧЕНИЯ</a:t>
            </a:r>
            <a:endParaRPr sz="2000"/>
          </a:p>
        </p:txBody>
      </p:sp>
      <p:sp>
        <p:nvSpPr>
          <p:cNvPr id="304" name="Google Shape;304;p28"/>
          <p:cNvSpPr/>
          <p:nvPr/>
        </p:nvSpPr>
        <p:spPr>
          <a:xfrm>
            <a:off x="457181" y="1047688"/>
            <a:ext cx="209548" cy="28551"/>
          </a:xfrm>
          <a:prstGeom prst="roundRect">
            <a:avLst>
              <a:gd fmla="val 50000" name="adj"/>
            </a:avLst>
          </a:prstGeom>
          <a:solidFill>
            <a:srgbClr val="ABCE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704815" y="1047688"/>
            <a:ext cx="209574" cy="28551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952475" y="1047688"/>
            <a:ext cx="209548" cy="28551"/>
          </a:xfrm>
          <a:prstGeom prst="roundRect">
            <a:avLst>
              <a:gd fmla="val 50000" name="adj"/>
            </a:avLst>
          </a:prstGeom>
          <a:solidFill>
            <a:srgbClr val="124D8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1200107" y="1047688"/>
            <a:ext cx="209574" cy="28551"/>
          </a:xfrm>
          <a:prstGeom prst="roundRect">
            <a:avLst>
              <a:gd fmla="val 50000" name="adj"/>
            </a:avLst>
          </a:prstGeom>
          <a:solidFill>
            <a:srgbClr val="0B2D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590507" y="1209565"/>
            <a:ext cx="1276345" cy="176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1943034" y="1209565"/>
            <a:ext cx="2707937" cy="176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Принцип работы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4686380" y="1209565"/>
            <a:ext cx="1667806" cy="176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Для нашей задачи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57181" y="1424616"/>
            <a:ext cx="5981753" cy="453460"/>
          </a:xfrm>
          <a:prstGeom prst="roundRect">
            <a:avLst>
              <a:gd fmla="val 21005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590507" y="1564684"/>
            <a:ext cx="1276345" cy="192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Ridge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1943034" y="1579904"/>
            <a:ext cx="2707937" cy="16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Линейная зависимость с регуляризацией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4686380" y="1618015"/>
            <a:ext cx="66662" cy="66662"/>
          </a:xfrm>
          <a:prstGeom prst="roundRect">
            <a:avLst>
              <a:gd fmla="val 50000" name="adj"/>
            </a:avLst>
          </a:prstGeom>
          <a:solidFill>
            <a:srgbClr val="AB1F0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4819706" y="1508461"/>
            <a:ext cx="1530482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Не улавливает нелинейность паводка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457181" y="1935205"/>
            <a:ext cx="5981753" cy="453435"/>
          </a:xfrm>
          <a:prstGeom prst="roundRect">
            <a:avLst>
              <a:gd fmla="val 21006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590507" y="2075248"/>
            <a:ext cx="1276345" cy="192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1943034" y="2019050"/>
            <a:ext cx="2707937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Ансамбль независимых деревьев, ответы усредняются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4686380" y="2128603"/>
            <a:ext cx="66662" cy="66662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8"/>
          <p:cNvSpPr/>
          <p:nvPr/>
        </p:nvSpPr>
        <p:spPr>
          <a:xfrm>
            <a:off x="4819706" y="2019050"/>
            <a:ext cx="1530482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Устойчив, но уступает бустингу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457181" y="2445768"/>
            <a:ext cx="5981753" cy="453460"/>
          </a:xfrm>
          <a:prstGeom prst="roundRect">
            <a:avLst>
              <a:gd fmla="val 21005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590507" y="2585837"/>
            <a:ext cx="1276345" cy="192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Extra Trees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1943034" y="2601056"/>
            <a:ext cx="2707937" cy="16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Лес со случайными порогами разбиения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4686380" y="2639167"/>
            <a:ext cx="66662" cy="66662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4819706" y="2529613"/>
            <a:ext cx="1530482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Нет квантильной функции потерь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457181" y="2956357"/>
            <a:ext cx="5981753" cy="453461"/>
          </a:xfrm>
          <a:prstGeom prst="roundRect">
            <a:avLst>
              <a:gd fmla="val 21005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590507" y="3096426"/>
            <a:ext cx="1276345" cy="192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Gradient Boosting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1943034" y="3040202"/>
            <a:ext cx="2707937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Деревья строятся по очереди, исправляя ошибки предыдущих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4686380" y="3149756"/>
            <a:ext cx="66662" cy="66662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8"/>
          <p:cNvSpPr/>
          <p:nvPr/>
        </p:nvSpPr>
        <p:spPr>
          <a:xfrm>
            <a:off x="4819706" y="3040202"/>
            <a:ext cx="1530482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Долго обучается, не работает с пропусками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457181" y="3466946"/>
            <a:ext cx="5981753" cy="594460"/>
          </a:xfrm>
          <a:prstGeom prst="roundRect">
            <a:avLst>
              <a:gd fmla="val 16023" name="adj"/>
            </a:avLst>
          </a:prstGeom>
          <a:solidFill>
            <a:srgbClr val="124D8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"/>
          <p:cNvSpPr/>
          <p:nvPr/>
        </p:nvSpPr>
        <p:spPr>
          <a:xfrm>
            <a:off x="590507" y="3590840"/>
            <a:ext cx="1276345" cy="365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HistGradient Boosting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1943034" y="3621277"/>
            <a:ext cx="2707937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Бустинг на гистограммах: признаки разбиты на интервалы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4686380" y="3730857"/>
            <a:ext cx="66662" cy="66662"/>
          </a:xfrm>
          <a:prstGeom prst="roundRect">
            <a:avLst>
              <a:gd fmla="val 50000" name="adj"/>
            </a:avLst>
          </a:prstGeom>
          <a:solidFill>
            <a:srgbClr val="ABCE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8"/>
          <p:cNvSpPr/>
          <p:nvPr/>
        </p:nvSpPr>
        <p:spPr>
          <a:xfrm>
            <a:off x="4819706" y="3549861"/>
            <a:ext cx="1530482" cy="44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Выбран для краткосрочного прогноза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457181" y="4118534"/>
            <a:ext cx="5981753" cy="453461"/>
          </a:xfrm>
          <a:prstGeom prst="roundRect">
            <a:avLst>
              <a:gd fmla="val 21005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590507" y="4258603"/>
            <a:ext cx="1276345" cy="192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000"/>
              <a:buFont typeface="Montserrat"/>
              <a:buNone/>
            </a:pPr>
            <a:r>
              <a:rPr b="1" i="0" lang="ru" sz="10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LSTM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1943034" y="4202379"/>
            <a:ext cx="2707937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Рекуррентная сеть, помнит долгие зависимости в ряде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4686380" y="4311933"/>
            <a:ext cx="66662" cy="66662"/>
          </a:xfrm>
          <a:prstGeom prst="roundRect">
            <a:avLst>
              <a:gd fmla="val 50000" name="adj"/>
            </a:avLst>
          </a:prstGeom>
          <a:solidFill>
            <a:srgbClr val="AB1F0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>
            <a:off x="4819706" y="4202379"/>
            <a:ext cx="1530482" cy="30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Ресурсоёмка и слабо интерпретируема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6591329" y="1209565"/>
            <a:ext cx="2095479" cy="3362430"/>
          </a:xfrm>
          <a:prstGeom prst="roundRect">
            <a:avLst>
              <a:gd fmla="val 6364" name="adj"/>
            </a:avLst>
          </a:prstGeom>
          <a:solidFill>
            <a:srgbClr val="0B2D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>
            <a:off x="6781808" y="1400044"/>
            <a:ext cx="1765956" cy="3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Почему HistGradient Boosting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6781808" y="1857251"/>
            <a:ext cx="28551" cy="594383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6886556" y="1857251"/>
            <a:ext cx="1658065" cy="613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Пропуски на вышестоящих постах обрабатываются без заполнения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6781808" y="2565916"/>
            <a:ext cx="28551" cy="594383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6886556" y="2565916"/>
            <a:ext cx="1658065" cy="613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Квантильная функция потерь: центральный прогноз и верхняя граница риска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6781808" y="3274580"/>
            <a:ext cx="28551" cy="445786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6886556" y="3274580"/>
            <a:ext cx="1658065" cy="464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Одна модель с признаком горизонта: кривая без разрывов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6781808" y="3834650"/>
            <a:ext cx="28551" cy="297191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8"/>
          <p:cNvSpPr/>
          <p:nvPr/>
        </p:nvSpPr>
        <p:spPr>
          <a:xfrm>
            <a:off x="6886556" y="3834650"/>
            <a:ext cx="1658065" cy="316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Быстрое обучение, открытый стек scikit-learn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РЭУ им. Г.В. Плеханова" id="351" name="Google Shape;351;p28"/>
          <p:cNvPicPr preferRelativeResize="0"/>
          <p:nvPr/>
        </p:nvPicPr>
        <p:blipFill rotWithShape="1">
          <a:blip r:embed="rId3">
            <a:alphaModFix/>
          </a:blip>
          <a:srcRect b="0" l="-257" r="-257" t="0"/>
          <a:stretch/>
        </p:blipFill>
        <p:spPr>
          <a:xfrm>
            <a:off x="7353298" y="209548"/>
            <a:ext cx="1333484" cy="49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/>
          <p:nvPr/>
        </p:nvSpPr>
        <p:spPr>
          <a:xfrm>
            <a:off x="8058149" y="4754878"/>
            <a:ext cx="419084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8591542" y="4762499"/>
            <a:ext cx="38086" cy="38086"/>
          </a:xfrm>
          <a:prstGeom prst="roundRect">
            <a:avLst>
              <a:gd fmla="val 25009" name="adj"/>
            </a:avLst>
          </a:prstGeom>
          <a:solidFill>
            <a:srgbClr val="AB1F0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"/>
          <p:cNvSpPr/>
          <p:nvPr/>
        </p:nvSpPr>
        <p:spPr>
          <a:xfrm>
            <a:off x="8591542" y="4819628"/>
            <a:ext cx="38086" cy="38086"/>
          </a:xfrm>
          <a:prstGeom prst="roundRect">
            <a:avLst>
              <a:gd fmla="val 25009" name="adj"/>
            </a:avLst>
          </a:prstGeom>
          <a:solidFill>
            <a:srgbClr val="86BA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8591542" y="4876757"/>
            <a:ext cx="38086" cy="38086"/>
          </a:xfrm>
          <a:prstGeom prst="roundRect">
            <a:avLst>
              <a:gd fmla="val 25009" name="adj"/>
            </a:avLst>
          </a:prstGeom>
          <a:solidFill>
            <a:srgbClr val="0B2D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8"/>
          <p:cNvSpPr/>
          <p:nvPr/>
        </p:nvSpPr>
        <p:spPr>
          <a:xfrm>
            <a:off x="8591542" y="4933884"/>
            <a:ext cx="38086" cy="38086"/>
          </a:xfrm>
          <a:prstGeom prst="roundRect">
            <a:avLst>
              <a:gd fmla="val 25009" name="adj"/>
            </a:avLst>
          </a:prstGeom>
          <a:solidFill>
            <a:srgbClr val="1864B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"/>
          <p:cNvSpPr txBox="1"/>
          <p:nvPr>
            <p:ph type="title"/>
          </p:nvPr>
        </p:nvSpPr>
        <p:spPr>
          <a:xfrm>
            <a:off x="457181" y="304787"/>
            <a:ext cx="5559227" cy="296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24D87"/>
              </a:buClr>
              <a:buSzPts val="2000"/>
              <a:buFont typeface="Montserrat"/>
              <a:buNone/>
            </a:pPr>
            <a:r>
              <a:rPr b="1" i="0" lang="ru" sz="2000">
                <a:solidFill>
                  <a:srgbClr val="124D87"/>
                </a:solidFill>
                <a:latin typeface="Montserrat"/>
                <a:ea typeface="Montserrat"/>
                <a:cs typeface="Montserrat"/>
                <a:sym typeface="Montserrat"/>
              </a:rPr>
              <a:t>ГОРИЗОНТЫ ПРОГНОЗИРОВАНИЯ</a:t>
            </a:r>
            <a:endParaRPr sz="2000"/>
          </a:p>
        </p:txBody>
      </p:sp>
      <p:sp>
        <p:nvSpPr>
          <p:cNvPr id="363" name="Google Shape;363;p29"/>
          <p:cNvSpPr/>
          <p:nvPr/>
        </p:nvSpPr>
        <p:spPr>
          <a:xfrm>
            <a:off x="457181" y="1047688"/>
            <a:ext cx="209548" cy="28551"/>
          </a:xfrm>
          <a:prstGeom prst="roundRect">
            <a:avLst>
              <a:gd fmla="val 50000" name="adj"/>
            </a:avLst>
          </a:prstGeom>
          <a:solidFill>
            <a:srgbClr val="ABCE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9"/>
          <p:cNvSpPr/>
          <p:nvPr/>
        </p:nvSpPr>
        <p:spPr>
          <a:xfrm>
            <a:off x="704815" y="1047688"/>
            <a:ext cx="209574" cy="28551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9"/>
          <p:cNvSpPr/>
          <p:nvPr/>
        </p:nvSpPr>
        <p:spPr>
          <a:xfrm>
            <a:off x="952475" y="1047688"/>
            <a:ext cx="209548" cy="28551"/>
          </a:xfrm>
          <a:prstGeom prst="roundRect">
            <a:avLst>
              <a:gd fmla="val 50000" name="adj"/>
            </a:avLst>
          </a:prstGeom>
          <a:solidFill>
            <a:srgbClr val="124D8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1200107" y="1047688"/>
            <a:ext cx="209574" cy="28551"/>
          </a:xfrm>
          <a:prstGeom prst="roundRect">
            <a:avLst>
              <a:gd fmla="val 50000" name="adj"/>
            </a:avLst>
          </a:prstGeom>
          <a:solidFill>
            <a:srgbClr val="0B2D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2505067" y="1381104"/>
            <a:ext cx="9508" cy="176211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9"/>
          <p:cNvSpPr/>
          <p:nvPr/>
        </p:nvSpPr>
        <p:spPr>
          <a:xfrm>
            <a:off x="2766989" y="1381104"/>
            <a:ext cx="9508" cy="176211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3290885" y="1381104"/>
            <a:ext cx="9508" cy="176211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6286490" y="1381104"/>
            <a:ext cx="9508" cy="176211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7024688" y="1381104"/>
            <a:ext cx="9509" cy="176211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9"/>
          <p:cNvSpPr/>
          <p:nvPr/>
        </p:nvSpPr>
        <p:spPr>
          <a:xfrm>
            <a:off x="7567600" y="1381104"/>
            <a:ext cx="9509" cy="176211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9"/>
          <p:cNvSpPr/>
          <p:nvPr/>
        </p:nvSpPr>
        <p:spPr>
          <a:xfrm>
            <a:off x="8677273" y="1381104"/>
            <a:ext cx="9509" cy="1762115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" name="Google Shape;374;p29"/>
          <p:cNvCxnSpPr/>
          <p:nvPr/>
        </p:nvCxnSpPr>
        <p:spPr>
          <a:xfrm>
            <a:off x="4207662" y="1381104"/>
            <a:ext cx="0" cy="1762115"/>
          </a:xfrm>
          <a:prstGeom prst="straightConnector1">
            <a:avLst/>
          </a:prstGeom>
          <a:noFill/>
          <a:ln cap="flat" cmpd="sng" w="19050">
            <a:solidFill>
              <a:srgbClr val="AB1F0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5" name="Google Shape;375;p29"/>
          <p:cNvSpPr/>
          <p:nvPr/>
        </p:nvSpPr>
        <p:spPr>
          <a:xfrm>
            <a:off x="4267181" y="1190625"/>
            <a:ext cx="2060247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B1F03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AB1F03"/>
                </a:solidFill>
                <a:latin typeface="Montserrat"/>
                <a:ea typeface="Montserrat"/>
                <a:cs typeface="Montserrat"/>
                <a:sym typeface="Montserrat"/>
              </a:rPr>
              <a:t>Целевой горизонт: 14 суток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457181" y="1477301"/>
            <a:ext cx="1348414" cy="1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Текущая практика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457181" y="1820199"/>
            <a:ext cx="1924069" cy="1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Гидродинамические модели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457181" y="2097365"/>
            <a:ext cx="1023467" cy="281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Статистические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(ARIMA, ETS)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457181" y="2505997"/>
            <a:ext cx="2007567" cy="1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Машинное обучение (HGB)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457181" y="2848896"/>
            <a:ext cx="1997087" cy="1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Сезонная модель (Prophet)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2381250" y="1409681"/>
            <a:ext cx="261922" cy="266676"/>
          </a:xfrm>
          <a:prstGeom prst="roundRect">
            <a:avLst>
              <a:gd fmla="val 50000" name="adj"/>
            </a:avLst>
          </a:prstGeom>
          <a:solidFill>
            <a:srgbClr val="AB1F0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9"/>
          <p:cNvSpPr/>
          <p:nvPr/>
        </p:nvSpPr>
        <p:spPr>
          <a:xfrm>
            <a:off x="2738438" y="1463011"/>
            <a:ext cx="434931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Реактивный режим: угроза видна при подтоплении, редко за 1–2 суток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2381250" y="1752581"/>
            <a:ext cx="6305532" cy="266676"/>
          </a:xfrm>
          <a:prstGeom prst="roundRect">
            <a:avLst>
              <a:gd fmla="val 50000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0" lIns="94300" spcFirstLastPara="1" rIns="9430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5A6472"/>
                </a:solidFill>
                <a:latin typeface="Montserrat"/>
                <a:ea typeface="Montserrat"/>
                <a:cs typeface="Montserrat"/>
                <a:sym typeface="Montserrat"/>
              </a:rPr>
              <a:t>Сценарный расчёт зон затопления (часы на сценарий), а не прогноз во времени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2509821" y="2095479"/>
            <a:ext cx="261922" cy="266676"/>
          </a:xfrm>
          <a:prstGeom prst="roundRect">
            <a:avLst>
              <a:gd fmla="val 50000" name="adj"/>
            </a:avLst>
          </a:prstGeom>
          <a:solidFill>
            <a:srgbClr val="4F9B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2867008" y="2148809"/>
            <a:ext cx="4144057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Надёжны на 1–3 суток: опираются только на историю ряда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2509821" y="2438378"/>
            <a:ext cx="3781423" cy="266676"/>
          </a:xfrm>
          <a:prstGeom prst="roundRect">
            <a:avLst>
              <a:gd fmla="val 50000" name="adj"/>
            </a:avLst>
          </a:prstGeom>
          <a:solidFill>
            <a:srgbClr val="124D87"/>
          </a:solidFill>
          <a:ln>
            <a:noFill/>
          </a:ln>
        </p:spPr>
        <p:txBody>
          <a:bodyPr anchorCtr="0" anchor="ctr" bIns="0" lIns="94300" spcFirstLastPara="1" rIns="9430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1–30 суток при наличии прогноза погоды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2509821" y="2781277"/>
            <a:ext cx="6176961" cy="266676"/>
          </a:xfrm>
          <a:prstGeom prst="roundRect">
            <a:avLst>
              <a:gd fmla="val 50000" name="adj"/>
            </a:avLst>
          </a:prstGeom>
          <a:solidFill>
            <a:srgbClr val="ABCEF4"/>
          </a:solidFill>
          <a:ln>
            <a:noFill/>
          </a:ln>
        </p:spPr>
        <p:txBody>
          <a:bodyPr anchorCtr="0" anchor="ctr" bIns="0" lIns="94300" spcFirstLastPara="1" rIns="9430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До 365 суток: годовой ход половодий и межени, без реакции на текущую погоду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2381250" y="3143244"/>
            <a:ext cx="3981437" cy="9508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9"/>
          <p:cNvSpPr/>
          <p:nvPr/>
        </p:nvSpPr>
        <p:spPr>
          <a:xfrm>
            <a:off x="6591277" y="3143244"/>
            <a:ext cx="2095479" cy="9508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6362679" y="3047979"/>
            <a:ext cx="228579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9AA4B2"/>
                </a:solidFill>
                <a:latin typeface="Montserrat"/>
                <a:ea typeface="Montserrat"/>
                <a:cs typeface="Montserrat"/>
                <a:sym typeface="Montserrat"/>
              </a:rPr>
              <a:t>//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457181" y="3209908"/>
            <a:ext cx="1864027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Горизонт, сутки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2347911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2609834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3133703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4043338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B1F03"/>
              </a:buClr>
              <a:buSzPts val="900"/>
              <a:buFont typeface="Montserrat"/>
              <a:buNone/>
            </a:pPr>
            <a:r>
              <a:rPr b="1" i="0" lang="ru" sz="900" u="none" cap="none" strike="noStrike">
                <a:solidFill>
                  <a:srgbClr val="AB1F03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6129334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6867506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7410445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180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8429607" y="3209908"/>
            <a:ext cx="323845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6B7684"/>
                </a:solidFill>
                <a:latin typeface="Montserrat"/>
                <a:ea typeface="Montserrat"/>
                <a:cs typeface="Montserrat"/>
                <a:sym typeface="Montserrat"/>
              </a:rPr>
              <a:t>365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457181" y="3543298"/>
            <a:ext cx="4038590" cy="967719"/>
          </a:xfrm>
          <a:prstGeom prst="roundRect">
            <a:avLst>
              <a:gd fmla="val 13780" name="adj"/>
            </a:avLst>
          </a:prstGeom>
          <a:solidFill>
            <a:srgbClr val="124D8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9"/>
          <p:cNvSpPr/>
          <p:nvPr/>
        </p:nvSpPr>
        <p:spPr>
          <a:xfrm>
            <a:off x="647661" y="3695692"/>
            <a:ext cx="3767361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ML: горизонт = горизонт входных данных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647661" y="3912836"/>
            <a:ext cx="3767361" cy="464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Модель прогнозирует настолько далеко, насколько доступны входы. Есть прогноз погоды на 15 суток → надёжный прогноз уровня на 15 суток.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4648166" y="3543298"/>
            <a:ext cx="4038590" cy="967719"/>
          </a:xfrm>
          <a:prstGeom prst="roundRect">
            <a:avLst>
              <a:gd fmla="val 13780" name="adj"/>
            </a:avLst>
          </a:prstGeom>
          <a:solidFill>
            <a:srgbClr val="ECED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4838645" y="3695692"/>
            <a:ext cx="3767361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1100"/>
              <a:buFont typeface="Montserrat"/>
              <a:buNone/>
            </a:pPr>
            <a:r>
              <a:rPr b="1" i="0" lang="ru" sz="11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Статистика: дальний горизонт, общий ход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4838645" y="3912836"/>
            <a:ext cx="3767361" cy="464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Prophet опирается только на историю ряда, поэтому горизонт может быть хоть год. Но он показывает сезонный ход, а не реакцию на конкретный ливень.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РЭУ им. Г.В. Плеханова" id="406" name="Google Shape;406;p29"/>
          <p:cNvPicPr preferRelativeResize="0"/>
          <p:nvPr/>
        </p:nvPicPr>
        <p:blipFill rotWithShape="1">
          <a:blip r:embed="rId3">
            <a:alphaModFix/>
          </a:blip>
          <a:srcRect b="0" l="-257" r="-257" t="0"/>
          <a:stretch/>
        </p:blipFill>
        <p:spPr>
          <a:xfrm>
            <a:off x="7353298" y="209548"/>
            <a:ext cx="1333484" cy="49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9"/>
          <p:cNvSpPr/>
          <p:nvPr/>
        </p:nvSpPr>
        <p:spPr>
          <a:xfrm>
            <a:off x="8058149" y="4754877"/>
            <a:ext cx="419084" cy="17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D50"/>
              </a:buClr>
              <a:buSzPts val="900"/>
              <a:buFont typeface="Montserrat"/>
              <a:buNone/>
            </a:pPr>
            <a:r>
              <a:rPr b="0" i="0" lang="ru" sz="900" u="none" cap="none" strike="noStrike">
                <a:solidFill>
                  <a:srgbClr val="0B2D5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8591542" y="4762500"/>
            <a:ext cx="38086" cy="38086"/>
          </a:xfrm>
          <a:prstGeom prst="roundRect">
            <a:avLst>
              <a:gd fmla="val 25009" name="adj"/>
            </a:avLst>
          </a:prstGeom>
          <a:solidFill>
            <a:srgbClr val="AB1F0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9"/>
          <p:cNvSpPr/>
          <p:nvPr/>
        </p:nvSpPr>
        <p:spPr>
          <a:xfrm>
            <a:off x="8591542" y="4819628"/>
            <a:ext cx="38086" cy="38086"/>
          </a:xfrm>
          <a:prstGeom prst="roundRect">
            <a:avLst>
              <a:gd fmla="val 25009" name="adj"/>
            </a:avLst>
          </a:prstGeom>
          <a:solidFill>
            <a:srgbClr val="86BA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9"/>
          <p:cNvSpPr/>
          <p:nvPr/>
        </p:nvSpPr>
        <p:spPr>
          <a:xfrm>
            <a:off x="8591542" y="4876757"/>
            <a:ext cx="38086" cy="38086"/>
          </a:xfrm>
          <a:prstGeom prst="roundRect">
            <a:avLst>
              <a:gd fmla="val 25009" name="adj"/>
            </a:avLst>
          </a:prstGeom>
          <a:solidFill>
            <a:srgbClr val="0B2D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8591542" y="4933885"/>
            <a:ext cx="38086" cy="38086"/>
          </a:xfrm>
          <a:prstGeom prst="roundRect">
            <a:avLst>
              <a:gd fmla="val 25009" name="adj"/>
            </a:avLst>
          </a:prstGeom>
          <a:solidFill>
            <a:srgbClr val="1864B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"/>
          <p:cNvSpPr txBox="1"/>
          <p:nvPr>
            <p:ph type="title"/>
          </p:nvPr>
        </p:nvSpPr>
        <p:spPr>
          <a:xfrm>
            <a:off x="392855" y="226056"/>
            <a:ext cx="6231731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800"/>
              <a:buFont typeface="Montserrat SemiBold"/>
              <a:buNone/>
            </a:pPr>
            <a:r>
              <a:rPr lang="ru"/>
              <a:t>Реестр </a:t>
            </a:r>
            <a:r>
              <a:rPr lang="ru" sz="1500"/>
              <a:t>стейкхолдеров</a:t>
            </a:r>
            <a:endParaRPr/>
          </a:p>
        </p:txBody>
      </p:sp>
      <p:graphicFrame>
        <p:nvGraphicFramePr>
          <p:cNvPr id="418" name="Google Shape;418;p30"/>
          <p:cNvGraphicFramePr/>
          <p:nvPr/>
        </p:nvGraphicFramePr>
        <p:xfrm>
          <a:off x="129912" y="7764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{3ECD5E30-D5C7-4E7D-86A3-FEB27F0FC485}</a:tableStyleId>
              </a:tblPr>
              <a:tblGrid>
                <a:gridCol w="239925"/>
                <a:gridCol w="1838550"/>
                <a:gridCol w="1019425"/>
                <a:gridCol w="2667000"/>
                <a:gridCol w="1083500"/>
                <a:gridCol w="940225"/>
                <a:gridCol w="1143075"/>
              </a:tblGrid>
              <a:tr h="1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№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Стейкхолдер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Группа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Ключевые ожидания от системы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Влияние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Интерес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Стратегия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1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st01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Финансовый директор / директор по рискам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Заказчик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Снижение ущерба от паводков, окупаемость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Управлять плотно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st02</a:t>
                      </a:r>
                      <a:endParaRPr sz="7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Руководство банка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Заказчик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Учёт физических климатических рисков в кредитном портфеле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Управлять плотно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st03</a:t>
                      </a:r>
                      <a:endParaRPr sz="7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Подразделение климатических рисков банка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Пользователь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Данные для отчётности о физических рисках по ожиданиям ЦБ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Управлять плотно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st04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Служба ГО и ЧС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Пользователь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Заблаговременное оповещение (+14 дней), время на защитные мероприятия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Держать в курсе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st05</a:t>
                      </a:r>
                      <a:endParaRPr sz="7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ИТ-служба заказчика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Эксплуатация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Простота развёртывания и сопровождения, интеграция, масштабируемость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Держать в курсе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st06</a:t>
                      </a:r>
                      <a:endParaRPr sz="7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Команда разработки и сопровождения модели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Исполнитель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Качество данных, переобучение модели, тиражирование на новые реки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Управлять плотно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st07</a:t>
                      </a:r>
                      <a:endParaRPr sz="7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Страховые компании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Потенциальный сегмент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Данные для андеррайтинга имущественных рисков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Мониторить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st08</a:t>
                      </a:r>
                      <a:endParaRPr sz="7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Население прибрежных территорий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Косвенный выгодоприобретатель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Снижение последствий паводков для экономики региона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Мониторить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st09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Росгидромет (Дальневосточное УГМС), сеть гидропостов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Поставщик данных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Корректное использование данных, соблюдение условий доступа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Удовлетворять требования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31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st10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Служба информационной безопасности заказчика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Контроль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Открытый стек, локальное хранение данных, импортозамещение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Удовлетворять требования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40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st11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Регуляторы (МЧС, Банк России, Минцифры)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Регулятор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Соответствие требованиям ГО и ЧС, управление климатическими рисками, отечественное ПО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Высокое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Низкий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700"/>
                        <a:t>Удовлетворять требования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  <p:sp>
        <p:nvSpPr>
          <p:cNvPr id="419" name="Google Shape;419;p30"/>
          <p:cNvSpPr txBox="1"/>
          <p:nvPr/>
        </p:nvSpPr>
        <p:spPr>
          <a:xfrm>
            <a:off x="-1091866" y="171450"/>
            <a:ext cx="1385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 txBox="1"/>
          <p:nvPr>
            <p:ph type="title"/>
          </p:nvPr>
        </p:nvSpPr>
        <p:spPr>
          <a:xfrm>
            <a:off x="392855" y="226056"/>
            <a:ext cx="6231731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800"/>
              <a:buFont typeface="Montserrat SemiBold"/>
              <a:buNone/>
            </a:pPr>
            <a:r>
              <a:rPr lang="ru"/>
              <a:t>Матрица стейкхолдеров</a:t>
            </a:r>
            <a:endParaRPr/>
          </a:p>
        </p:txBody>
      </p:sp>
      <p:graphicFrame>
        <p:nvGraphicFramePr>
          <p:cNvPr id="425" name="Google Shape;425;p31"/>
          <p:cNvGraphicFramePr/>
          <p:nvPr/>
        </p:nvGraphicFramePr>
        <p:xfrm>
          <a:off x="100584" y="1334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{3ECD5E30-D5C7-4E7D-86A3-FEB27F0FC485}</a:tableStyleId>
              </a:tblPr>
              <a:tblGrid>
                <a:gridCol w="620700"/>
                <a:gridCol w="2264000"/>
                <a:gridCol w="620700"/>
                <a:gridCol w="620700"/>
                <a:gridCol w="13793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№</a:t>
                      </a:r>
                      <a:endParaRPr b="1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Стейкхолдер</a:t>
                      </a:r>
                      <a:endParaRPr b="1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Интерес</a:t>
                      </a:r>
                      <a:endParaRPr b="1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Влияние</a:t>
                      </a:r>
                      <a:endParaRPr b="1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Стратегия</a:t>
                      </a:r>
                      <a:endParaRPr b="1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ST-01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Руководство предприятия (спонсор)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8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9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Управлять плотно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ST-02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Руководство банка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7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9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Управлять плотно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ST-03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Риск-менеджмент банка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9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6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Управлять плотно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ST-06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Команда разработки и сопровождения модели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10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7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Управлять плотно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ST-09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Росгидромет, сеть гидропостов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2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9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Удовлетворять требования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ST-10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Служба ИБ заказчика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3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7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Удовлетворять требования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ST-11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Регуляторы (МЧС, ЦБ, Минцифры)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2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8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Удовлетворять требования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ST-04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Служба ГО и ЧС и руководители площадок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9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3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Держать в курсе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ST-05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ИТ-служба заказчика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6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4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Держать в курсе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ST-07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Страховые компании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3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3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Мониторить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ST-08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Население прибрежных территорий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2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1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u="none" strike="noStrike"/>
                        <a:t>Мониторить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b"/>
                </a:tc>
              </a:tr>
            </a:tbl>
          </a:graphicData>
        </a:graphic>
      </p:graphicFrame>
      <p:pic>
        <p:nvPicPr>
          <p:cNvPr id="426" name="Google Shape;4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409" y="823130"/>
            <a:ext cx="3233191" cy="3431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 txBox="1"/>
          <p:nvPr>
            <p:ph type="title"/>
          </p:nvPr>
        </p:nvSpPr>
        <p:spPr>
          <a:xfrm>
            <a:off x="392855" y="226056"/>
            <a:ext cx="6231731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800"/>
              <a:buFont typeface="Montserrat SemiBold"/>
              <a:buNone/>
            </a:pPr>
            <a:r>
              <a:rPr lang="ru"/>
              <a:t>MoSCoW</a:t>
            </a:r>
            <a:endParaRPr/>
          </a:p>
        </p:txBody>
      </p:sp>
      <p:graphicFrame>
        <p:nvGraphicFramePr>
          <p:cNvPr id="432" name="Google Shape;432;p32"/>
          <p:cNvGraphicFramePr/>
          <p:nvPr/>
        </p:nvGraphicFramePr>
        <p:xfrm>
          <a:off x="270710" y="730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{3F1E9AF8-1EC2-43D3-B66D-870597D043D8}</a:tableStyleId>
              </a:tblPr>
              <a:tblGrid>
                <a:gridCol w="585825"/>
                <a:gridCol w="3679350"/>
                <a:gridCol w="927025"/>
                <a:gridCol w="892075"/>
                <a:gridCol w="2569375"/>
              </a:tblGrid>
              <a:tr h="12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ID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Требование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Тип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Источник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Обоснование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REQ-01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Автоматический сбор данных об уровне воды с AllRivers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ST-09, ST-06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Без входных данных прогноз невозможен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REQ-02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Автоматический сбор метеоданных (осадки, температура и др.) из Open-Meteo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ST-12, ST-06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Метеоданные входят в признаки модели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REQ-03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Хранение исторических и текущих наблюдений в базе данных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ST-06, ST-05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Нужно для обучения модели и построения признаков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REQ-04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Краткосрочный прогноз уровня воды на горизонте до +14 дней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ST-01, ST-04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Основная функция системы, даёт время на защитные мероприятия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REQ-05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Интервальный прогноз: рабочий (q = 0,60) и защитный (q = 0,90) сценарии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ST-01, ST-03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Риск-менеджменту нужен пессимистичный сценарий, а не одна точка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REQ-06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Оповещение о прогнозном превышении критических отметок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ST-04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Цель системы — заблаговременное предупреждение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REQ-07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Веб-интерфейс с графиками фактического и прогнозного уровня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ST-04, ST-01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Единственный канал работы пользователя с системой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REQ-08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Качество прогноза выше наивного прогноза (контроль MAE, R²)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ST-06, ST-01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Иначе система не имеет смысла по сравнению с «завтра будет как сегодня»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REQ-09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Данные заказчика (объекты, залоги, результаты оценки) хранятся локально и не передаются внешним сервисам; наружу уходят только координаты гидропостов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ST-10, ST-11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Условие допуска в контур банка и предприятия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REQ-10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Открытый стек без лицензионных зависимостей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ST-10, ST-11, ST-01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Импортозамещение и низкая стоимость владения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REQ-11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Соблюдение условий использования AllRivers и лицензии Open-Meteo (режим использования, лимиты запросов)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ST-09, ST-12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Иначе можно потерять доступ к источникам данных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REQ-12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Указание источника «Weather data by Open-Meteo.com» в веб-интерфейсе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ST-12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Обязательное условие лицензии</a:t>
                      </a:r>
                      <a:endParaRPr sz="1100"/>
                    </a:p>
                  </a:txBody>
                  <a:tcPr marT="6300" marB="6300" marR="12600" marL="12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3" name="Google Shape;433;p32"/>
          <p:cNvSpPr txBox="1"/>
          <p:nvPr>
            <p:ph idx="1" type="body"/>
          </p:nvPr>
        </p:nvSpPr>
        <p:spPr>
          <a:xfrm>
            <a:off x="392906" y="522300"/>
            <a:ext cx="6231731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None/>
            </a:pPr>
            <a:r>
              <a:rPr lang="ru"/>
              <a:t>Must have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"/>
          <p:cNvSpPr txBox="1"/>
          <p:nvPr>
            <p:ph idx="1" type="body"/>
          </p:nvPr>
        </p:nvSpPr>
        <p:spPr>
          <a:xfrm>
            <a:off x="392906" y="162426"/>
            <a:ext cx="6231731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None/>
            </a:pPr>
            <a:r>
              <a:rPr lang="ru"/>
              <a:t>Should have</a:t>
            </a:r>
            <a:endParaRPr/>
          </a:p>
        </p:txBody>
      </p:sp>
      <p:graphicFrame>
        <p:nvGraphicFramePr>
          <p:cNvPr id="439" name="Google Shape;439;p33"/>
          <p:cNvGraphicFramePr/>
          <p:nvPr/>
        </p:nvGraphicFramePr>
        <p:xfrm>
          <a:off x="392906" y="8121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{3F1E9AF8-1EC2-43D3-B66D-870597D043D8}</a:tableStyleId>
              </a:tblPr>
              <a:tblGrid>
                <a:gridCol w="1693650"/>
                <a:gridCol w="1693650"/>
                <a:gridCol w="1693650"/>
                <a:gridCol w="1693650"/>
                <a:gridCol w="1693650"/>
              </a:tblGrid>
              <a:tr h="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ID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Требование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Тип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Источник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Обоснование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REQ-13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Привязка объектов предприятия и залогов банка к гидропостам и критическим отметкам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ST-01, ST-03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Превращает прогноз реки в риск конкретного объекта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REQ-14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Оценка экономической эффективности и потенциального ущерба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ST-01, ST-02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Аргумент для спонсора, но прогноз работает и без неё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REQ-15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Контроль качества входных данных (пропуски, выбросы)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Повышает надёжность прогноза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REQ-16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Устойчивость к недоступности источников: кэширование, повторные запросы, работа на последних загруженных данных с предупреждением пользователя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ST-06, ST-04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Система зависит от двух внешних сервисов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REQ-17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Контроль изменений формата данных AllRivers с оповещением разработчика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Защита от поломки сбора при изменении сайта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REQ-18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Процедура переобучения модели на новых данных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Без неё качество со временем деградирует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REQ-19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Выгрузка отчётов (Excel / PDF)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ST-03, ST-02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Нужна для отчётности о климатических рисках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REQ-20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Автоматическое тестирование модулей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ST-06, ST-05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Упрощает сопровождение и доработки</a:t>
                      </a:r>
                      <a:endParaRPr sz="1100"/>
                    </a:p>
                  </a:txBody>
                  <a:tcPr marT="10075" marB="10075" marR="20150" marL="2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"/>
          <p:cNvSpPr txBox="1"/>
          <p:nvPr>
            <p:ph idx="1" type="body"/>
          </p:nvPr>
        </p:nvSpPr>
        <p:spPr>
          <a:xfrm>
            <a:off x="338764" y="107211"/>
            <a:ext cx="6231731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None/>
            </a:pPr>
            <a:r>
              <a:rPr lang="ru"/>
              <a:t>Could have</a:t>
            </a:r>
            <a:endParaRPr/>
          </a:p>
        </p:txBody>
      </p:sp>
      <p:graphicFrame>
        <p:nvGraphicFramePr>
          <p:cNvPr id="445" name="Google Shape;445;p34"/>
          <p:cNvGraphicFramePr/>
          <p:nvPr/>
        </p:nvGraphicFramePr>
        <p:xfrm>
          <a:off x="338765" y="884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{3F1E9AF8-1EC2-43D3-B66D-870597D043D8}</a:tableStyleId>
              </a:tblPr>
              <a:tblGrid>
                <a:gridCol w="1673800"/>
                <a:gridCol w="1673800"/>
                <a:gridCol w="1673800"/>
                <a:gridCol w="1673800"/>
                <a:gridCol w="1673800"/>
              </a:tblGrid>
              <a:tr h="22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ID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Требование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Тип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Источник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Обоснование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REQ-21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Оповещения по электронной почте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ST-04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Удобнее, чем заходить в интерфейс, но не обязательно для пилота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REQ-22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Подключение новых рек и гидропостов через настройки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ST-06, ST-01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Важно для тиражирования, но пилот ограничен Амуром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REQ-23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Разграничение прав доступа по ролям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ST-10, ST-05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Актуально при многопользовательской эксплуатации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REQ-24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Отображение сезонной декомпозиции ряда (Prophet)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ST-03, ST-06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Помогает интерпретировать прогноз, но не влияет на решение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REQ-25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Сравнение прогноза системы с официальными прогнозами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Ф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ST-11, ST-04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Повышает доверие пользователей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REQ-26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Собственный экземпляр Open-Meteo в контуре заказчика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НФ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ST-10, ST-12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Снимает лицензионный риск и усиливает ИБ</a:t>
                      </a:r>
                      <a:endParaRPr sz="1100"/>
                    </a:p>
                  </a:txBody>
                  <a:tcPr marT="16825" marB="16825" marR="33650" marL="3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5"/>
          <p:cNvSpPr txBox="1"/>
          <p:nvPr>
            <p:ph idx="1" type="body"/>
          </p:nvPr>
        </p:nvSpPr>
        <p:spPr>
          <a:xfrm>
            <a:off x="465096" y="289178"/>
            <a:ext cx="6231731" cy="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None/>
            </a:pPr>
            <a:r>
              <a:rPr lang="ru"/>
              <a:t>Won't have</a:t>
            </a:r>
            <a:endParaRPr/>
          </a:p>
        </p:txBody>
      </p:sp>
      <p:graphicFrame>
        <p:nvGraphicFramePr>
          <p:cNvPr id="451" name="Google Shape;451;p35"/>
          <p:cNvGraphicFramePr/>
          <p:nvPr/>
        </p:nvGraphicFramePr>
        <p:xfrm>
          <a:off x="465095" y="1064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{3F1E9AF8-1EC2-43D3-B66D-870597D043D8}</a:tableStyleId>
              </a:tblPr>
              <a:tblGrid>
                <a:gridCol w="2056175"/>
                <a:gridCol w="2056175"/>
                <a:gridCol w="2056175"/>
                <a:gridCol w="2056175"/>
              </a:tblGrid>
              <a:tr h="14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ID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Требование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Источник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Почему исключено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REQ-27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Интеграция с АБС и системами риск-менеджмента банка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ST-02, ST-03, ST-05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Требует отдельного проекта и согласований с ИБ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REQ-28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Мобильное приложение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ST-04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Веб-интерфейса достаточно для пилота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REQ-29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Модуль андеррайтинга для страховых компаний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ST-07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Потенциальный сегмент, не текущий заказчик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REQ-30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Публичный портал оповещения населения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ST-08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Не соответствует B2B-позиционированию, функция МЧС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REQ-31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Включение в реестр отечественного ПО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ST-11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Целесообразно после пилота, при коммерциализации</a:t>
                      </a:r>
                      <a:endParaRPr sz="1100"/>
                    </a:p>
                  </a:txBody>
                  <a:tcPr marT="27200" marB="27200" marR="54400" marL="54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6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lang="ru" sz="1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ОПИСАНЫ ПОЛЬЗОВАТЕЛЬСКИЕ СЦЕНАРИИ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458" name="Google Shape;45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6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6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6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6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lang="ru" sz="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6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6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6"/>
          <p:cNvSpPr/>
          <p:nvPr/>
        </p:nvSpPr>
        <p:spPr>
          <a:xfrm>
            <a:off x="569214" y="918972"/>
            <a:ext cx="2420874" cy="219456"/>
          </a:xfrm>
          <a:prstGeom prst="roundRect">
            <a:avLst>
              <a:gd fmla="val 28125" name="adj"/>
            </a:avLst>
          </a:prstGeom>
          <a:solidFill>
            <a:srgbClr val="EDF3F9"/>
          </a:solidFill>
          <a:ln cap="flat" cmpd="sng" w="9525">
            <a:solidFill>
              <a:srgbClr val="EDF3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6"/>
          <p:cNvSpPr/>
          <p:nvPr/>
        </p:nvSpPr>
        <p:spPr>
          <a:xfrm>
            <a:off x="624078" y="953262"/>
            <a:ext cx="2311146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800"/>
              <a:buFont typeface="Montserrat"/>
              <a:buNone/>
            </a:pPr>
            <a:r>
              <a:rPr b="1" lang="ru" sz="8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10 user stories • 2 группы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576072" y="1303020"/>
            <a:ext cx="38061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400"/>
              <a:buFont typeface="Montserrat"/>
              <a:buNone/>
            </a:pPr>
            <a:r>
              <a:rPr b="1" lang="ru" sz="14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Риск-менеджер / дашборд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4793742" y="1303020"/>
            <a:ext cx="38061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400"/>
              <a:buFont typeface="Montserrat"/>
              <a:buNone/>
            </a:pPr>
            <a:r>
              <a:rPr b="1" lang="ru" sz="14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Системные процессы / интеграции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569214" y="1728216"/>
            <a:ext cx="3895344" cy="2324862"/>
          </a:xfrm>
          <a:prstGeom prst="roundRect">
            <a:avLst>
              <a:gd fmla="val 3245" name="adj"/>
            </a:avLst>
          </a:prstGeom>
          <a:solidFill>
            <a:srgbClr val="F3F6FA"/>
          </a:solidFill>
          <a:ln cap="flat" cmpd="sng" w="9525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6"/>
          <p:cNvSpPr/>
          <p:nvPr/>
        </p:nvSpPr>
        <p:spPr>
          <a:xfrm>
            <a:off x="4697730" y="1728216"/>
            <a:ext cx="3895344" cy="2324862"/>
          </a:xfrm>
          <a:prstGeom prst="roundRect">
            <a:avLst>
              <a:gd fmla="val 3245" name="adj"/>
            </a:avLst>
          </a:prstGeom>
          <a:solidFill>
            <a:srgbClr val="F3F6FA"/>
          </a:solidFill>
          <a:ln cap="flat" cmpd="sng" w="9525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6"/>
          <p:cNvSpPr/>
          <p:nvPr/>
        </p:nvSpPr>
        <p:spPr>
          <a:xfrm>
            <a:off x="733806" y="1872234"/>
            <a:ext cx="351129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US-1  Текущая обстановка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36"/>
          <p:cNvSpPr/>
          <p:nvPr/>
        </p:nvSpPr>
        <p:spPr>
          <a:xfrm>
            <a:off x="733806" y="2194560"/>
            <a:ext cx="351129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US-2  Фильтры по округу и статусу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733806" y="2516886"/>
            <a:ext cx="351129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US-3  История гидропоста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733806" y="2839212"/>
            <a:ext cx="351129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US-4  Ручной запуск сбора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733806" y="3161538"/>
            <a:ext cx="3511296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723519" y="3161514"/>
            <a:ext cx="351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US-5  Экспорт в Excel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36"/>
          <p:cNvSpPr/>
          <p:nvPr/>
        </p:nvSpPr>
        <p:spPr>
          <a:xfrm>
            <a:off x="4862322" y="1920240"/>
            <a:ext cx="35181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US-6  Автоматический цикл по расписанию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4862322" y="2420874"/>
            <a:ext cx="35181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US-7  Данные allrivers.info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4862322" y="2921508"/>
            <a:ext cx="35181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US-8  Бюллетени УГМС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4862322" y="3422142"/>
            <a:ext cx="35181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US-9  Метеоданные Open-Meteo API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610362" y="4320540"/>
            <a:ext cx="8092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100"/>
              <a:buFont typeface="Montserrat"/>
              <a:buNone/>
            </a:pPr>
            <a:r>
              <a:rPr b="1" lang="ru" sz="1100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Результат: подготовлены критерии приёмки и основа для декомпозиции разработки на задачи.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7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lang="ru" sz="1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ПОСТРОЕНА UML-ДИАГРАММА ВАРИАНТОВ ИСПОЛЬЗОВАНИЯ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489" name="Google Shape;4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7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7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7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lang="ru" sz="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7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7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hoto_5386857801121996684_y.jpg" id="497" name="Google Shape;49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52" y="905256"/>
            <a:ext cx="7159500" cy="38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8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lang="ru" sz="1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ПОДГОТОВЛЕНЫ 4 ВАРИАНТА ОФОРМЛЕНИЯ ДАШБОРДА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504" name="Google Shape;50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8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8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8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8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lang="ru" sz="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38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8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8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8"/>
          <p:cNvSpPr/>
          <p:nvPr/>
        </p:nvSpPr>
        <p:spPr>
          <a:xfrm>
            <a:off x="555498" y="966978"/>
            <a:ext cx="379247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200"/>
              <a:buFont typeface="Montserrat"/>
              <a:buNone/>
            </a:pPr>
            <a:r>
              <a:rPr b="1" lang="ru" sz="12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Базовая светлая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38"/>
          <p:cNvSpPr/>
          <p:nvPr/>
        </p:nvSpPr>
        <p:spPr>
          <a:xfrm>
            <a:off x="555498" y="1248156"/>
            <a:ext cx="3840480" cy="1495044"/>
          </a:xfrm>
          <a:prstGeom prst="roundRect">
            <a:avLst>
              <a:gd fmla="val 4128" name="adj"/>
            </a:avLst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work/team_week/dashboard_1_top.png" id="514" name="Google Shape;51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887" y="1282446"/>
            <a:ext cx="2991702" cy="1412748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8"/>
          <p:cNvSpPr/>
          <p:nvPr/>
        </p:nvSpPr>
        <p:spPr>
          <a:xfrm>
            <a:off x="4732020" y="966978"/>
            <a:ext cx="379247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200"/>
              <a:buFont typeface="Montserrat"/>
              <a:buNone/>
            </a:pPr>
            <a:r>
              <a:rPr b="1" lang="ru" sz="12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Тёмная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4732020" y="1248156"/>
            <a:ext cx="3840480" cy="1495044"/>
          </a:xfrm>
          <a:prstGeom prst="roundRect">
            <a:avLst>
              <a:gd fmla="val 4128" name="adj"/>
            </a:avLst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work/team_week/dashboard_2_top.png" id="517" name="Google Shape;51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6409" y="1282446"/>
            <a:ext cx="2991702" cy="141274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8"/>
          <p:cNvSpPr/>
          <p:nvPr/>
        </p:nvSpPr>
        <p:spPr>
          <a:xfrm>
            <a:off x="555498" y="2866644"/>
            <a:ext cx="379247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200"/>
              <a:buFont typeface="Montserrat"/>
              <a:buNone/>
            </a:pPr>
            <a:r>
              <a:rPr b="1" lang="ru" sz="12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Сбер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38"/>
          <p:cNvSpPr/>
          <p:nvPr/>
        </p:nvSpPr>
        <p:spPr>
          <a:xfrm>
            <a:off x="555498" y="3147822"/>
            <a:ext cx="3840480" cy="1495044"/>
          </a:xfrm>
          <a:prstGeom prst="roundRect">
            <a:avLst>
              <a:gd fmla="val 4128" name="adj"/>
            </a:avLst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work/team_week/dashboard_3_top.png" id="520" name="Google Shape;520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887" y="3182112"/>
            <a:ext cx="2991702" cy="141274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8"/>
          <p:cNvSpPr/>
          <p:nvPr/>
        </p:nvSpPr>
        <p:spPr>
          <a:xfrm>
            <a:off x="4732020" y="2866644"/>
            <a:ext cx="379247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200"/>
              <a:buFont typeface="Montserrat"/>
              <a:buNone/>
            </a:pPr>
            <a:r>
              <a:rPr b="1" lang="ru" sz="12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Альфа-Банк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38"/>
          <p:cNvSpPr/>
          <p:nvPr/>
        </p:nvSpPr>
        <p:spPr>
          <a:xfrm>
            <a:off x="4732020" y="3147822"/>
            <a:ext cx="3840480" cy="1495044"/>
          </a:xfrm>
          <a:prstGeom prst="roundRect">
            <a:avLst>
              <a:gd fmla="val 4128" name="adj"/>
            </a:avLst>
          </a:prstGeom>
          <a:solidFill>
            <a:srgbClr val="FFFFFF"/>
          </a:solidFill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work/team_week/dashboard_4_top.png" id="523" name="Google Shape;523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6409" y="3182112"/>
            <a:ext cx="2991702" cy="141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9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lang="ru" sz="1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ПРОРАБОТАНЫ ЭКРАНЫ С ПРОГНОЗОМ И ДИНАМИКОЙ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530" name="Google Shape;53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9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9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9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9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lang="ru" sz="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39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9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9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9"/>
          <p:cNvSpPr/>
          <p:nvPr/>
        </p:nvSpPr>
        <p:spPr>
          <a:xfrm>
            <a:off x="534924" y="966978"/>
            <a:ext cx="3861054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300"/>
              <a:buFont typeface="Montserrat"/>
              <a:buNone/>
            </a:pPr>
            <a:r>
              <a:rPr b="1" lang="ru" sz="13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Светлая тема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39"/>
          <p:cNvSpPr/>
          <p:nvPr/>
        </p:nvSpPr>
        <p:spPr>
          <a:xfrm>
            <a:off x="4725162" y="966978"/>
            <a:ext cx="3861054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300"/>
              <a:buFont typeface="Montserrat"/>
              <a:buNone/>
            </a:pPr>
            <a:r>
              <a:rPr b="1" lang="ru" sz="13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Тёмная тема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39"/>
          <p:cNvSpPr/>
          <p:nvPr/>
        </p:nvSpPr>
        <p:spPr>
          <a:xfrm>
            <a:off x="534924" y="1303020"/>
            <a:ext cx="3861054" cy="3147822"/>
          </a:xfrm>
          <a:prstGeom prst="roundRect">
            <a:avLst>
              <a:gd fmla="val 1743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9"/>
          <p:cNvSpPr/>
          <p:nvPr/>
        </p:nvSpPr>
        <p:spPr>
          <a:xfrm>
            <a:off x="4725162" y="1303020"/>
            <a:ext cx="3861054" cy="3147822"/>
          </a:xfrm>
          <a:prstGeom prst="roundRect">
            <a:avLst>
              <a:gd fmla="val 1743" name="adj"/>
            </a:avLst>
          </a:prstGeom>
          <a:solidFill>
            <a:srgbClr val="FFFFFF"/>
          </a:solidFill>
          <a:ln cap="flat" cmpd="sng" w="9525">
            <a:solidFill>
              <a:srgbClr val="D6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work/team_week/dashboard_1_charts.png" id="542" name="Google Shape;54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55" y="1357884"/>
            <a:ext cx="3739192" cy="3038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work/team_week/dashboard_2_charts.png" id="543" name="Google Shape;54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093" y="1357884"/>
            <a:ext cx="3739192" cy="303809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9"/>
          <p:cNvSpPr/>
          <p:nvPr/>
        </p:nvSpPr>
        <p:spPr>
          <a:xfrm>
            <a:off x="589788" y="4567428"/>
            <a:ext cx="8071866" cy="22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Варианты показывают графики прогнозируемого уровня и сезонного хода воды.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0"/>
          <p:cNvSpPr/>
          <p:nvPr/>
        </p:nvSpPr>
        <p:spPr>
          <a:xfrm>
            <a:off x="500634" y="253746"/>
            <a:ext cx="75027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lang="ru" sz="1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551" name="Google Shape;5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0"/>
          <p:cNvSpPr/>
          <p:nvPr/>
        </p:nvSpPr>
        <p:spPr>
          <a:xfrm>
            <a:off x="514350" y="750951"/>
            <a:ext cx="315600" cy="37800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0"/>
          <p:cNvSpPr/>
          <p:nvPr/>
        </p:nvSpPr>
        <p:spPr>
          <a:xfrm>
            <a:off x="884682" y="750951"/>
            <a:ext cx="150900" cy="37800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0"/>
          <p:cNvSpPr/>
          <p:nvPr/>
        </p:nvSpPr>
        <p:spPr>
          <a:xfrm>
            <a:off x="1090422" y="750951"/>
            <a:ext cx="82200" cy="37800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0"/>
          <p:cNvSpPr/>
          <p:nvPr/>
        </p:nvSpPr>
        <p:spPr>
          <a:xfrm>
            <a:off x="8661654" y="4821174"/>
            <a:ext cx="1578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lang="ru" sz="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40"/>
          <p:cNvSpPr/>
          <p:nvPr/>
        </p:nvSpPr>
        <p:spPr>
          <a:xfrm>
            <a:off x="8901684" y="4812944"/>
            <a:ext cx="30900" cy="30900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0"/>
          <p:cNvSpPr/>
          <p:nvPr/>
        </p:nvSpPr>
        <p:spPr>
          <a:xfrm>
            <a:off x="8901684" y="4877410"/>
            <a:ext cx="30900" cy="30900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0"/>
          <p:cNvSpPr/>
          <p:nvPr/>
        </p:nvSpPr>
        <p:spPr>
          <a:xfrm>
            <a:off x="8901684" y="4941875"/>
            <a:ext cx="30900" cy="30900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47" y="788746"/>
            <a:ext cx="6838714" cy="4194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1"/>
          <p:cNvSpPr/>
          <p:nvPr/>
        </p:nvSpPr>
        <p:spPr>
          <a:xfrm>
            <a:off x="500634" y="253746"/>
            <a:ext cx="75027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lang="ru" sz="1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репозитория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566" name="Google Shape;56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1"/>
          <p:cNvSpPr/>
          <p:nvPr/>
        </p:nvSpPr>
        <p:spPr>
          <a:xfrm>
            <a:off x="514350" y="750951"/>
            <a:ext cx="315600" cy="37800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1"/>
          <p:cNvSpPr/>
          <p:nvPr/>
        </p:nvSpPr>
        <p:spPr>
          <a:xfrm>
            <a:off x="884682" y="750951"/>
            <a:ext cx="150900" cy="37800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1"/>
          <p:cNvSpPr/>
          <p:nvPr/>
        </p:nvSpPr>
        <p:spPr>
          <a:xfrm>
            <a:off x="1090422" y="750951"/>
            <a:ext cx="82200" cy="37800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1"/>
          <p:cNvSpPr/>
          <p:nvPr/>
        </p:nvSpPr>
        <p:spPr>
          <a:xfrm>
            <a:off x="8661654" y="4821174"/>
            <a:ext cx="1578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lang="ru" sz="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41"/>
          <p:cNvSpPr/>
          <p:nvPr/>
        </p:nvSpPr>
        <p:spPr>
          <a:xfrm>
            <a:off x="8901684" y="4812944"/>
            <a:ext cx="30900" cy="30900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1"/>
          <p:cNvSpPr/>
          <p:nvPr/>
        </p:nvSpPr>
        <p:spPr>
          <a:xfrm>
            <a:off x="8901684" y="4877410"/>
            <a:ext cx="30900" cy="30900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1"/>
          <p:cNvSpPr/>
          <p:nvPr/>
        </p:nvSpPr>
        <p:spPr>
          <a:xfrm>
            <a:off x="8901684" y="4941875"/>
            <a:ext cx="30900" cy="30900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4" name="Google Shape;57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47" y="788746"/>
            <a:ext cx="5672601" cy="4194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2"/>
          <p:cNvSpPr/>
          <p:nvPr/>
        </p:nvSpPr>
        <p:spPr>
          <a:xfrm>
            <a:off x="500634" y="253746"/>
            <a:ext cx="7502652" cy="39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700"/>
              <a:buFont typeface="Montserrat"/>
              <a:buNone/>
            </a:pPr>
            <a:r>
              <a:rPr b="1" lang="ru" sz="1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 НЕДЕЛИ И ДАЛЬНЕЙШИЕ ШАГИ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/mnt/data/work/team_week/reu_logo.png" id="581" name="Google Shape;5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694" y="141001"/>
            <a:ext cx="1008126" cy="376367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2"/>
          <p:cNvSpPr/>
          <p:nvPr/>
        </p:nvSpPr>
        <p:spPr>
          <a:xfrm>
            <a:off x="514350" y="750951"/>
            <a:ext cx="315468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2"/>
          <p:cNvSpPr/>
          <p:nvPr/>
        </p:nvSpPr>
        <p:spPr>
          <a:xfrm>
            <a:off x="884682" y="750951"/>
            <a:ext cx="15087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2"/>
          <p:cNvSpPr/>
          <p:nvPr/>
        </p:nvSpPr>
        <p:spPr>
          <a:xfrm>
            <a:off x="1090422" y="750951"/>
            <a:ext cx="82296" cy="37719"/>
          </a:xfrm>
          <a:prstGeom prst="rect">
            <a:avLst/>
          </a:prstGeom>
          <a:solidFill>
            <a:srgbClr val="2E74B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/>
          <p:nvPr/>
        </p:nvSpPr>
        <p:spPr>
          <a:xfrm>
            <a:off x="8661654" y="4821174"/>
            <a:ext cx="15773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700"/>
              <a:buFont typeface="Montserrat"/>
              <a:buNone/>
            </a:pPr>
            <a:r>
              <a:rPr lang="ru" sz="7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42"/>
          <p:cNvSpPr/>
          <p:nvPr/>
        </p:nvSpPr>
        <p:spPr>
          <a:xfrm>
            <a:off x="8901684" y="4812944"/>
            <a:ext cx="30861" cy="30861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2"/>
          <p:cNvSpPr/>
          <p:nvPr/>
        </p:nvSpPr>
        <p:spPr>
          <a:xfrm>
            <a:off x="8901684" y="4877410"/>
            <a:ext cx="30861" cy="30861"/>
          </a:xfrm>
          <a:prstGeom prst="ellipse">
            <a:avLst/>
          </a:prstGeom>
          <a:solidFill>
            <a:srgbClr val="ED7D31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2"/>
          <p:cNvSpPr/>
          <p:nvPr/>
        </p:nvSpPr>
        <p:spPr>
          <a:xfrm>
            <a:off x="8901684" y="4941875"/>
            <a:ext cx="30861" cy="30861"/>
          </a:xfrm>
          <a:prstGeom prst="ellipse">
            <a:avLst/>
          </a:prstGeom>
          <a:solidFill>
            <a:srgbClr val="005593"/>
          </a:solidFill>
          <a:ln cap="flat" cmpd="sng" w="12700">
            <a:solidFill>
              <a:srgbClr val="005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2"/>
          <p:cNvSpPr/>
          <p:nvPr/>
        </p:nvSpPr>
        <p:spPr>
          <a:xfrm>
            <a:off x="569214" y="1014984"/>
            <a:ext cx="8023860" cy="1083564"/>
          </a:xfrm>
          <a:prstGeom prst="roundRect">
            <a:avLst>
              <a:gd fmla="val 6329" name="adj"/>
            </a:avLst>
          </a:prstGeom>
          <a:solidFill>
            <a:srgbClr val="EAF2F9"/>
          </a:solidFill>
          <a:ln cap="flat" cmpd="sng" w="9525">
            <a:solidFill>
              <a:srgbClr val="D6E3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2"/>
          <p:cNvSpPr/>
          <p:nvPr/>
        </p:nvSpPr>
        <p:spPr>
          <a:xfrm>
            <a:off x="802386" y="1227582"/>
            <a:ext cx="7516368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355"/>
              </a:buClr>
              <a:buSzPts val="1600"/>
              <a:buFont typeface="Montserrat"/>
              <a:buNone/>
            </a:pPr>
            <a:r>
              <a:rPr b="1" lang="ru" sz="1600">
                <a:solidFill>
                  <a:srgbClr val="001355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Подготовлен набор проектных материалов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42"/>
          <p:cNvSpPr/>
          <p:nvPr/>
        </p:nvSpPr>
        <p:spPr>
          <a:xfrm>
            <a:off x="802386" y="1604772"/>
            <a:ext cx="748893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Montserrat"/>
              <a:buNone/>
            </a:pPr>
            <a:r>
              <a:rPr lang="ru" sz="10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От аналитики и приоритизации до пользовательских сценариев, UML и четырёх визуальных концепций интерфейса.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42"/>
          <p:cNvSpPr/>
          <p:nvPr/>
        </p:nvSpPr>
        <p:spPr>
          <a:xfrm>
            <a:off x="603504" y="2420874"/>
            <a:ext cx="69265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1500"/>
              <a:buFont typeface="Montserrat"/>
              <a:buNone/>
            </a:pPr>
            <a:r>
              <a:rPr b="1" lang="ru" sz="15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Следующие шаги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42"/>
          <p:cNvSpPr/>
          <p:nvPr/>
        </p:nvSpPr>
        <p:spPr>
          <a:xfrm>
            <a:off x="624078" y="2832354"/>
            <a:ext cx="267462" cy="267462"/>
          </a:xfrm>
          <a:prstGeom prst="roundRect">
            <a:avLst>
              <a:gd fmla="val 23077" name="adj"/>
            </a:avLst>
          </a:prstGeom>
          <a:solidFill>
            <a:srgbClr val="EDF3F9"/>
          </a:solidFill>
          <a:ln cap="flat" cmpd="sng" w="9525">
            <a:solidFill>
              <a:srgbClr val="EDF3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2"/>
          <p:cNvSpPr/>
          <p:nvPr/>
        </p:nvSpPr>
        <p:spPr>
          <a:xfrm>
            <a:off x="697459" y="2866644"/>
            <a:ext cx="10972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900"/>
              <a:buFont typeface="Montserrat"/>
              <a:buNone/>
            </a:pPr>
            <a:r>
              <a:rPr b="1" lang="ru" sz="9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42"/>
          <p:cNvSpPr/>
          <p:nvPr/>
        </p:nvSpPr>
        <p:spPr>
          <a:xfrm>
            <a:off x="1035558" y="2846070"/>
            <a:ext cx="7310628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100"/>
              <a:buFont typeface="Montserrat"/>
              <a:buNone/>
            </a:pPr>
            <a:r>
              <a:rPr lang="ru" sz="11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приоритетные требования Must have.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42"/>
          <p:cNvSpPr/>
          <p:nvPr/>
        </p:nvSpPr>
        <p:spPr>
          <a:xfrm>
            <a:off x="624078" y="3250692"/>
            <a:ext cx="267462" cy="267462"/>
          </a:xfrm>
          <a:prstGeom prst="roundRect">
            <a:avLst>
              <a:gd fmla="val 23077" name="adj"/>
            </a:avLst>
          </a:prstGeom>
          <a:solidFill>
            <a:srgbClr val="EDF3F9"/>
          </a:solidFill>
          <a:ln cap="flat" cmpd="sng" w="9525">
            <a:solidFill>
              <a:srgbClr val="EDF3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2"/>
          <p:cNvSpPr/>
          <p:nvPr/>
        </p:nvSpPr>
        <p:spPr>
          <a:xfrm>
            <a:off x="697459" y="3284982"/>
            <a:ext cx="10972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900"/>
              <a:buFont typeface="Montserrat"/>
              <a:buNone/>
            </a:pPr>
            <a:r>
              <a:rPr b="1" lang="ru" sz="9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42"/>
          <p:cNvSpPr/>
          <p:nvPr/>
        </p:nvSpPr>
        <p:spPr>
          <a:xfrm>
            <a:off x="1035558" y="3264408"/>
            <a:ext cx="7310628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100"/>
              <a:buFont typeface="Montserrat"/>
              <a:buNone/>
            </a:pPr>
            <a:r>
              <a:rPr lang="ru" sz="11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пользовательские сценарии и критерии приёмки.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42"/>
          <p:cNvSpPr/>
          <p:nvPr/>
        </p:nvSpPr>
        <p:spPr>
          <a:xfrm>
            <a:off x="624078" y="3669030"/>
            <a:ext cx="267462" cy="267462"/>
          </a:xfrm>
          <a:prstGeom prst="roundRect">
            <a:avLst>
              <a:gd fmla="val 23077" name="adj"/>
            </a:avLst>
          </a:prstGeom>
          <a:solidFill>
            <a:srgbClr val="EDF3F9"/>
          </a:solidFill>
          <a:ln cap="flat" cmpd="sng" w="9525">
            <a:solidFill>
              <a:srgbClr val="EDF3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2"/>
          <p:cNvSpPr/>
          <p:nvPr/>
        </p:nvSpPr>
        <p:spPr>
          <a:xfrm>
            <a:off x="697459" y="3703320"/>
            <a:ext cx="10972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900"/>
              <a:buFont typeface="Montserrat"/>
              <a:buNone/>
            </a:pPr>
            <a:r>
              <a:rPr b="1" lang="ru" sz="9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42"/>
          <p:cNvSpPr/>
          <p:nvPr/>
        </p:nvSpPr>
        <p:spPr>
          <a:xfrm>
            <a:off x="1035558" y="3682746"/>
            <a:ext cx="7310628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100"/>
              <a:buFont typeface="Montserrat"/>
              <a:buNone/>
            </a:pPr>
            <a:r>
              <a:rPr lang="ru" sz="11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Выбрать визуальную тему дашборда.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42"/>
          <p:cNvSpPr/>
          <p:nvPr/>
        </p:nvSpPr>
        <p:spPr>
          <a:xfrm>
            <a:off x="624078" y="4087368"/>
            <a:ext cx="267462" cy="267462"/>
          </a:xfrm>
          <a:prstGeom prst="roundRect">
            <a:avLst>
              <a:gd fmla="val 23077" name="adj"/>
            </a:avLst>
          </a:prstGeom>
          <a:solidFill>
            <a:srgbClr val="EDF3F9"/>
          </a:solidFill>
          <a:ln cap="flat" cmpd="sng" w="9525">
            <a:solidFill>
              <a:srgbClr val="EDF3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2"/>
          <p:cNvSpPr/>
          <p:nvPr/>
        </p:nvSpPr>
        <p:spPr>
          <a:xfrm>
            <a:off x="697459" y="4121658"/>
            <a:ext cx="10972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593"/>
              </a:buClr>
              <a:buSzPts val="900"/>
              <a:buFont typeface="Montserrat"/>
              <a:buNone/>
            </a:pPr>
            <a:r>
              <a:rPr b="1" lang="ru" sz="900">
                <a:solidFill>
                  <a:srgbClr val="00559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42"/>
          <p:cNvSpPr/>
          <p:nvPr/>
        </p:nvSpPr>
        <p:spPr>
          <a:xfrm>
            <a:off x="1035558" y="4101084"/>
            <a:ext cx="7310628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1100"/>
              <a:buFont typeface="Montserrat"/>
              <a:buNone/>
            </a:pPr>
            <a:r>
              <a:rPr lang="ru" sz="1100">
                <a:solidFill>
                  <a:srgbClr val="222A35"/>
                </a:solidFill>
                <a:latin typeface="Montserrat"/>
                <a:ea typeface="Montserrat"/>
                <a:cs typeface="Montserrat"/>
                <a:sym typeface="Montserrat"/>
              </a:rPr>
              <a:t>Перейти к реализации и проверке ключевых сценариев.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ВКР: методы, алгоритмы, горизонты">
  <a:themeElements>
    <a:clrScheme name="ВКР: методы, алгоритмы, горизонты">
      <a:dk1>
        <a:srgbClr val="124D87"/>
      </a:dk1>
      <a:lt1>
        <a:srgbClr val="FFFFFF"/>
      </a:lt1>
      <a:dk2>
        <a:srgbClr val="4D7AA5"/>
      </a:dk2>
      <a:lt2>
        <a:srgbClr val="E7EDF3"/>
      </a:lt2>
      <a:accent1>
        <a:srgbClr val="0B2D50"/>
      </a:accent1>
      <a:accent2>
        <a:srgbClr val="4F9BE7"/>
      </a:accent2>
      <a:accent3>
        <a:srgbClr val="AB1F03"/>
      </a:accent3>
      <a:accent4>
        <a:srgbClr val="ABCEF4"/>
      </a:accent4>
      <a:accent5>
        <a:srgbClr val="86BAEE"/>
      </a:accent5>
      <a:accent6>
        <a:srgbClr val="1864B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